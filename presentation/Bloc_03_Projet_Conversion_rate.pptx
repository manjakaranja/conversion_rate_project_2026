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 id="2147483660" r:id="rId2"/>
  </p:sldMasterIdLst>
  <p:notesMasterIdLst>
    <p:notesMasterId r:id="rId11"/>
  </p:notesMasterIdLst>
  <p:sldIdLst>
    <p:sldId id="256" r:id="rId3"/>
    <p:sldId id="272" r:id="rId4"/>
    <p:sldId id="278" r:id="rId5"/>
    <p:sldId id="273" r:id="rId6"/>
    <p:sldId id="276" r:id="rId7"/>
    <p:sldId id="277" r:id="rId8"/>
    <p:sldId id="279" r:id="rId9"/>
    <p:sldId id="271" r:id="rId10"/>
  </p:sldIdLst>
  <p:sldSz cx="9144000" cy="5143500" type="screen16x9"/>
  <p:notesSz cx="6858000" cy="9144000"/>
  <p:embeddedFontLst>
    <p:embeddedFont>
      <p:font typeface="Inter Medium" panose="02000503000000020004" pitchFamily="2" charset="0"/>
      <p:regular r:id="rId12"/>
      <p:bold r:id="rId13"/>
      <p:italic r:id="rId14"/>
      <p:boldItalic r:id="rId15"/>
    </p:embeddedFont>
    <p:embeddedFont>
      <p:font typeface="Inter SemiBold" panose="02000503000000020004"/>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4E9EB"/>
    <a:srgbClr val="F44470"/>
    <a:srgbClr val="41545E"/>
    <a:srgbClr val="0E344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7CE571-0A36-406C-8D4A-10C7A408527B}" v="56" dt="2026-02-03T16:38:54.911"/>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83" autoAdjust="0"/>
    <p:restoredTop sz="47854" autoAdjust="0"/>
  </p:normalViewPr>
  <p:slideViewPr>
    <p:cSldViewPr snapToGrid="0">
      <p:cViewPr>
        <p:scale>
          <a:sx n="167" d="100"/>
          <a:sy n="167" d="100"/>
        </p:scale>
        <p:origin x="136" y="-1008"/>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font" Target="fonts/font1.fntdata"/><Relationship Id="rId17" Type="http://schemas.openxmlformats.org/officeDocument/2006/relationships/font" Target="fonts/font6.fntdata"/><Relationship Id="rId25"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font" Target="fonts/font5.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24"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font" Target="fonts/font4.fntdata"/><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font" Target="fonts/font8.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3.fntdata"/><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an-Yves Vuillequez" userId="e7fac481abea6bd0" providerId="LiveId" clId="{79E365E8-22BC-4EC2-9606-9A9AC6CD1D22}"/>
    <pc:docChg chg="undo custSel addSld delSld modSld addMainMaster delMainMaster">
      <pc:chgData name="Jean-Yves Vuillequez" userId="e7fac481abea6bd0" providerId="LiveId" clId="{79E365E8-22BC-4EC2-9606-9A9AC6CD1D22}" dt="2026-02-11T16:19:00.194" v="1163" actId="20577"/>
      <pc:docMkLst>
        <pc:docMk/>
      </pc:docMkLst>
      <pc:sldChg chg="addSp modSp mod">
        <pc:chgData name="Jean-Yves Vuillequez" userId="e7fac481abea6bd0" providerId="LiveId" clId="{79E365E8-22BC-4EC2-9606-9A9AC6CD1D22}" dt="2026-02-01T10:49:42.067" v="106"/>
        <pc:sldMkLst>
          <pc:docMk/>
          <pc:sldMk cId="0" sldId="256"/>
        </pc:sldMkLst>
        <pc:spChg chg="add mod">
          <ac:chgData name="Jean-Yves Vuillequez" userId="e7fac481abea6bd0" providerId="LiveId" clId="{79E365E8-22BC-4EC2-9606-9A9AC6CD1D22}" dt="2026-02-01T10:49:11.152" v="105" actId="1038"/>
          <ac:spMkLst>
            <pc:docMk/>
            <pc:sldMk cId="0" sldId="256"/>
            <ac:spMk id="3" creationId="{124BAD35-7509-EAFD-F0C5-0C17E26060D0}"/>
          </ac:spMkLst>
        </pc:spChg>
        <pc:spChg chg="mod">
          <ac:chgData name="Jean-Yves Vuillequez" userId="e7fac481abea6bd0" providerId="LiveId" clId="{79E365E8-22BC-4EC2-9606-9A9AC6CD1D22}" dt="2026-02-01T10:49:42.067" v="106"/>
          <ac:spMkLst>
            <pc:docMk/>
            <pc:sldMk cId="0" sldId="256"/>
            <ac:spMk id="54" creationId="{00000000-0000-0000-0000-000000000000}"/>
          </ac:spMkLst>
        </pc:spChg>
        <pc:spChg chg="mod">
          <ac:chgData name="Jean-Yves Vuillequez" userId="e7fac481abea6bd0" providerId="LiveId" clId="{79E365E8-22BC-4EC2-9606-9A9AC6CD1D22}" dt="2026-02-01T10:48:57.703" v="98" actId="14100"/>
          <ac:spMkLst>
            <pc:docMk/>
            <pc:sldMk cId="0" sldId="256"/>
            <ac:spMk id="57" creationId="{00000000-0000-0000-0000-000000000000}"/>
          </ac:spMkLst>
        </pc:spChg>
      </pc:sldChg>
      <pc:sldChg chg="add del">
        <pc:chgData name="Jean-Yves Vuillequez" userId="e7fac481abea6bd0" providerId="LiveId" clId="{79E365E8-22BC-4EC2-9606-9A9AC6CD1D22}" dt="2026-01-16T10:47:03.962" v="33" actId="47"/>
        <pc:sldMkLst>
          <pc:docMk/>
          <pc:sldMk cId="0" sldId="271"/>
        </pc:sldMkLst>
      </pc:sldChg>
      <pc:sldChg chg="addSp delSp modSp add mod">
        <pc:chgData name="Jean-Yves Vuillequez" userId="e7fac481abea6bd0" providerId="LiveId" clId="{79E365E8-22BC-4EC2-9606-9A9AC6CD1D22}" dt="2026-02-03T16:44:30.749" v="1153" actId="20577"/>
        <pc:sldMkLst>
          <pc:docMk/>
          <pc:sldMk cId="0" sldId="272"/>
        </pc:sldMkLst>
        <pc:spChg chg="mod">
          <ac:chgData name="Jean-Yves Vuillequez" userId="e7fac481abea6bd0" providerId="LiveId" clId="{79E365E8-22BC-4EC2-9606-9A9AC6CD1D22}" dt="2026-02-02T16:04:01.333" v="158" actId="14100"/>
          <ac:spMkLst>
            <pc:docMk/>
            <pc:sldMk cId="0" sldId="272"/>
            <ac:spMk id="5" creationId="{C9E79F0C-F757-C223-90A8-073753256F1C}"/>
          </ac:spMkLst>
        </pc:spChg>
        <pc:spChg chg="mod">
          <ac:chgData name="Jean-Yves Vuillequez" userId="e7fac481abea6bd0" providerId="LiveId" clId="{79E365E8-22BC-4EC2-9606-9A9AC6CD1D22}" dt="2026-02-02T16:03:57.491" v="157" actId="1076"/>
          <ac:spMkLst>
            <pc:docMk/>
            <pc:sldMk cId="0" sldId="272"/>
            <ac:spMk id="6" creationId="{243FF7A6-205C-44FD-4C04-67C8CD0DF557}"/>
          </ac:spMkLst>
        </pc:spChg>
        <pc:spChg chg="mod">
          <ac:chgData name="Jean-Yves Vuillequez" userId="e7fac481abea6bd0" providerId="LiveId" clId="{79E365E8-22BC-4EC2-9606-9A9AC6CD1D22}" dt="2026-02-02T16:12:32.447" v="228"/>
          <ac:spMkLst>
            <pc:docMk/>
            <pc:sldMk cId="0" sldId="272"/>
            <ac:spMk id="8" creationId="{D3D901F2-0479-03C1-9C4D-1542F14A7791}"/>
          </ac:spMkLst>
        </pc:spChg>
        <pc:spChg chg="mod">
          <ac:chgData name="Jean-Yves Vuillequez" userId="e7fac481abea6bd0" providerId="LiveId" clId="{79E365E8-22BC-4EC2-9606-9A9AC6CD1D22}" dt="2026-02-02T16:12:32.447" v="228"/>
          <ac:spMkLst>
            <pc:docMk/>
            <pc:sldMk cId="0" sldId="272"/>
            <ac:spMk id="9" creationId="{E86B944B-0AC6-8C1B-B655-51FE85D19559}"/>
          </ac:spMkLst>
        </pc:spChg>
        <pc:spChg chg="mod">
          <ac:chgData name="Jean-Yves Vuillequez" userId="e7fac481abea6bd0" providerId="LiveId" clId="{79E365E8-22BC-4EC2-9606-9A9AC6CD1D22}" dt="2026-02-02T16:12:32.447" v="228"/>
          <ac:spMkLst>
            <pc:docMk/>
            <pc:sldMk cId="0" sldId="272"/>
            <ac:spMk id="10" creationId="{15387661-5F0D-91A7-566A-CDC1103CAD47}"/>
          </ac:spMkLst>
        </pc:spChg>
        <pc:spChg chg="mod">
          <ac:chgData name="Jean-Yves Vuillequez" userId="e7fac481abea6bd0" providerId="LiveId" clId="{79E365E8-22BC-4EC2-9606-9A9AC6CD1D22}" dt="2026-02-02T16:12:32.447" v="228"/>
          <ac:spMkLst>
            <pc:docMk/>
            <pc:sldMk cId="0" sldId="272"/>
            <ac:spMk id="11" creationId="{B7BA56DF-ACB5-96AC-1B66-ACE0F51740D7}"/>
          </ac:spMkLst>
        </pc:spChg>
        <pc:spChg chg="mod">
          <ac:chgData name="Jean-Yves Vuillequez" userId="e7fac481abea6bd0" providerId="LiveId" clId="{79E365E8-22BC-4EC2-9606-9A9AC6CD1D22}" dt="2026-02-03T16:44:30.749" v="1153" actId="20577"/>
          <ac:spMkLst>
            <pc:docMk/>
            <pc:sldMk cId="0" sldId="272"/>
            <ac:spMk id="74" creationId="{9DB93DE2-52AF-624C-2521-0CBC83F1DAEA}"/>
          </ac:spMkLst>
        </pc:spChg>
        <pc:grpChg chg="add mod">
          <ac:chgData name="Jean-Yves Vuillequez" userId="e7fac481abea6bd0" providerId="LiveId" clId="{79E365E8-22BC-4EC2-9606-9A9AC6CD1D22}" dt="2026-02-02T16:12:50.788" v="231" actId="1076"/>
          <ac:grpSpMkLst>
            <pc:docMk/>
            <pc:sldMk cId="0" sldId="272"/>
            <ac:grpSpMk id="7" creationId="{22FBBE8F-0634-76B3-524A-215301EEC5AE}"/>
          </ac:grpSpMkLst>
        </pc:grpChg>
        <pc:cxnChg chg="mod">
          <ac:chgData name="Jean-Yves Vuillequez" userId="e7fac481abea6bd0" providerId="LiveId" clId="{79E365E8-22BC-4EC2-9606-9A9AC6CD1D22}" dt="2026-02-02T16:12:32.447" v="228"/>
          <ac:cxnSpMkLst>
            <pc:docMk/>
            <pc:sldMk cId="0" sldId="272"/>
            <ac:cxnSpMk id="16" creationId="{C9C23D12-455C-12D3-FE2F-F0013DF9B356}"/>
          </ac:cxnSpMkLst>
        </pc:cxnChg>
        <pc:cxnChg chg="mod">
          <ac:chgData name="Jean-Yves Vuillequez" userId="e7fac481abea6bd0" providerId="LiveId" clId="{79E365E8-22BC-4EC2-9606-9A9AC6CD1D22}" dt="2026-02-02T16:12:32.447" v="228"/>
          <ac:cxnSpMkLst>
            <pc:docMk/>
            <pc:sldMk cId="0" sldId="272"/>
            <ac:cxnSpMk id="18" creationId="{3152C454-50FC-28A9-B0A1-EDEFE33093E5}"/>
          </ac:cxnSpMkLst>
        </pc:cxnChg>
        <pc:cxnChg chg="mod">
          <ac:chgData name="Jean-Yves Vuillequez" userId="e7fac481abea6bd0" providerId="LiveId" clId="{79E365E8-22BC-4EC2-9606-9A9AC6CD1D22}" dt="2026-02-02T16:12:32.447" v="228"/>
          <ac:cxnSpMkLst>
            <pc:docMk/>
            <pc:sldMk cId="0" sldId="272"/>
            <ac:cxnSpMk id="19" creationId="{56267556-01E4-8554-D451-DCBFD1626D88}"/>
          </ac:cxnSpMkLst>
        </pc:cxnChg>
      </pc:sldChg>
      <pc:sldChg chg="addSp delSp modSp add mod">
        <pc:chgData name="Jean-Yves Vuillequez" userId="e7fac481abea6bd0" providerId="LiveId" clId="{79E365E8-22BC-4EC2-9606-9A9AC6CD1D22}" dt="2026-02-03T16:36:53.048" v="1114" actId="20577"/>
        <pc:sldMkLst>
          <pc:docMk/>
          <pc:sldMk cId="1949808982" sldId="273"/>
        </pc:sldMkLst>
        <pc:spChg chg="mod">
          <ac:chgData name="Jean-Yves Vuillequez" userId="e7fac481abea6bd0" providerId="LiveId" clId="{79E365E8-22BC-4EC2-9606-9A9AC6CD1D22}" dt="2026-02-02T16:59:51.313" v="611" actId="20577"/>
          <ac:spMkLst>
            <pc:docMk/>
            <pc:sldMk cId="1949808982" sldId="273"/>
            <ac:spMk id="4" creationId="{E68FD57D-A21D-4A1D-E5BC-A166AFD04983}"/>
          </ac:spMkLst>
        </pc:spChg>
        <pc:spChg chg="mod">
          <ac:chgData name="Jean-Yves Vuillequez" userId="e7fac481abea6bd0" providerId="LiveId" clId="{79E365E8-22BC-4EC2-9606-9A9AC6CD1D22}" dt="2026-02-03T16:36:53.048" v="1114" actId="20577"/>
          <ac:spMkLst>
            <pc:docMk/>
            <pc:sldMk cId="1949808982" sldId="273"/>
            <ac:spMk id="68" creationId="{F0826EF4-BD5C-8FF3-F987-33CC9D7D7599}"/>
          </ac:spMkLst>
        </pc:spChg>
        <pc:picChg chg="add del mod">
          <ac:chgData name="Jean-Yves Vuillequez" userId="e7fac481abea6bd0" providerId="LiveId" clId="{79E365E8-22BC-4EC2-9606-9A9AC6CD1D22}" dt="2026-02-02T16:42:49.828" v="300" actId="1076"/>
          <ac:picMkLst>
            <pc:docMk/>
            <pc:sldMk cId="1949808982" sldId="273"/>
            <ac:picMk id="5" creationId="{FFD3A7E8-574A-0065-C0B0-2B1983D5B751}"/>
          </ac:picMkLst>
        </pc:picChg>
        <pc:picChg chg="add del mod">
          <ac:chgData name="Jean-Yves Vuillequez" userId="e7fac481abea6bd0" providerId="LiveId" clId="{79E365E8-22BC-4EC2-9606-9A9AC6CD1D22}" dt="2026-02-02T16:42:49.828" v="300" actId="1076"/>
          <ac:picMkLst>
            <pc:docMk/>
            <pc:sldMk cId="1949808982" sldId="273"/>
            <ac:picMk id="7" creationId="{78FC0971-8DC8-8A90-3868-064BC7FE4264}"/>
          </ac:picMkLst>
        </pc:picChg>
      </pc:sldChg>
      <pc:sldChg chg="addSp delSp modSp add mod">
        <pc:chgData name="Jean-Yves Vuillequez" userId="e7fac481abea6bd0" providerId="LiveId" clId="{79E365E8-22BC-4EC2-9606-9A9AC6CD1D22}" dt="2026-02-03T16:36:58.913" v="1118" actId="20577"/>
        <pc:sldMkLst>
          <pc:docMk/>
          <pc:sldMk cId="2520763536" sldId="274"/>
        </pc:sldMkLst>
        <pc:spChg chg="mod">
          <ac:chgData name="Jean-Yves Vuillequez" userId="e7fac481abea6bd0" providerId="LiveId" clId="{79E365E8-22BC-4EC2-9606-9A9AC6CD1D22}" dt="2026-02-02T16:59:29.756" v="610" actId="20577"/>
          <ac:spMkLst>
            <pc:docMk/>
            <pc:sldMk cId="2520763536" sldId="274"/>
            <ac:spMk id="4" creationId="{90813A80-8000-0FDA-D8E9-0E9C827F1EAC}"/>
          </ac:spMkLst>
        </pc:spChg>
        <pc:spChg chg="mod">
          <ac:chgData name="Jean-Yves Vuillequez" userId="e7fac481abea6bd0" providerId="LiveId" clId="{79E365E8-22BC-4EC2-9606-9A9AC6CD1D22}" dt="2026-02-03T16:36:58.913" v="1118" actId="20577"/>
          <ac:spMkLst>
            <pc:docMk/>
            <pc:sldMk cId="2520763536" sldId="274"/>
            <ac:spMk id="68" creationId="{C3733C74-24E3-7920-AD3B-E8BFC249503D}"/>
          </ac:spMkLst>
        </pc:spChg>
        <pc:picChg chg="add mod">
          <ac:chgData name="Jean-Yves Vuillequez" userId="e7fac481abea6bd0" providerId="LiveId" clId="{79E365E8-22BC-4EC2-9606-9A9AC6CD1D22}" dt="2026-02-02T16:46:58.274" v="336" actId="14100"/>
          <ac:picMkLst>
            <pc:docMk/>
            <pc:sldMk cId="2520763536" sldId="274"/>
            <ac:picMk id="9" creationId="{DA32B252-0256-1E46-B1C2-D2D703D86D2E}"/>
          </ac:picMkLst>
        </pc:picChg>
        <pc:picChg chg="add mod">
          <ac:chgData name="Jean-Yves Vuillequez" userId="e7fac481abea6bd0" providerId="LiveId" clId="{79E365E8-22BC-4EC2-9606-9A9AC6CD1D22}" dt="2026-02-02T16:55:30.371" v="475" actId="14100"/>
          <ac:picMkLst>
            <pc:docMk/>
            <pc:sldMk cId="2520763536" sldId="274"/>
            <ac:picMk id="13" creationId="{F15E5821-B646-F310-AB25-5EE15794B7F2}"/>
          </ac:picMkLst>
        </pc:picChg>
      </pc:sldChg>
      <pc:sldChg chg="delSp modSp add mod">
        <pc:chgData name="Jean-Yves Vuillequez" userId="e7fac481abea6bd0" providerId="LiveId" clId="{79E365E8-22BC-4EC2-9606-9A9AC6CD1D22}" dt="2026-02-03T16:40:43.886" v="1149" actId="14100"/>
        <pc:sldMkLst>
          <pc:docMk/>
          <pc:sldMk cId="350096336" sldId="275"/>
        </pc:sldMkLst>
        <pc:spChg chg="mod">
          <ac:chgData name="Jean-Yves Vuillequez" userId="e7fac481abea6bd0" providerId="LiveId" clId="{79E365E8-22BC-4EC2-9606-9A9AC6CD1D22}" dt="2026-02-03T16:40:43.886" v="1149" actId="14100"/>
          <ac:spMkLst>
            <pc:docMk/>
            <pc:sldMk cId="350096336" sldId="275"/>
            <ac:spMk id="5" creationId="{94984F66-4CDD-54A8-8239-A2D75C6C5A9C}"/>
          </ac:spMkLst>
        </pc:spChg>
        <pc:spChg chg="mod">
          <ac:chgData name="Jean-Yves Vuillequez" userId="e7fac481abea6bd0" providerId="LiveId" clId="{79E365E8-22BC-4EC2-9606-9A9AC6CD1D22}" dt="2026-02-03T16:19:47.038" v="1087" actId="113"/>
          <ac:spMkLst>
            <pc:docMk/>
            <pc:sldMk cId="350096336" sldId="275"/>
            <ac:spMk id="6" creationId="{93C872CE-121A-B45D-34AA-6287E96C439E}"/>
          </ac:spMkLst>
        </pc:spChg>
      </pc:sldChg>
      <pc:sldChg chg="addSp delSp modSp add mod">
        <pc:chgData name="Jean-Yves Vuillequez" userId="e7fac481abea6bd0" providerId="LiveId" clId="{79E365E8-22BC-4EC2-9606-9A9AC6CD1D22}" dt="2026-02-11T16:19:00.194" v="1163" actId="20577"/>
        <pc:sldMkLst>
          <pc:docMk/>
          <pc:sldMk cId="2166643445" sldId="276"/>
        </pc:sldMkLst>
        <pc:spChg chg="mod">
          <ac:chgData name="Jean-Yves Vuillequez" userId="e7fac481abea6bd0" providerId="LiveId" clId="{79E365E8-22BC-4EC2-9606-9A9AC6CD1D22}" dt="2026-02-03T16:22:50.485" v="1090" actId="14100"/>
          <ac:spMkLst>
            <pc:docMk/>
            <pc:sldMk cId="2166643445" sldId="276"/>
            <ac:spMk id="11" creationId="{CCAFC56B-0391-D0D0-91A1-80E39855DACA}"/>
          </ac:spMkLst>
        </pc:spChg>
        <pc:spChg chg="mod">
          <ac:chgData name="Jean-Yves Vuillequez" userId="e7fac481abea6bd0" providerId="LiveId" clId="{79E365E8-22BC-4EC2-9606-9A9AC6CD1D22}" dt="2026-02-02T17:17:55.868" v="657" actId="20577"/>
          <ac:spMkLst>
            <pc:docMk/>
            <pc:sldMk cId="2166643445" sldId="276"/>
            <ac:spMk id="68" creationId="{3E1FE9AF-F8BF-6D41-7238-1CD8C87E5960}"/>
          </ac:spMkLst>
        </pc:spChg>
        <pc:graphicFrameChg chg="mod modGraphic">
          <ac:chgData name="Jean-Yves Vuillequez" userId="e7fac481abea6bd0" providerId="LiveId" clId="{79E365E8-22BC-4EC2-9606-9A9AC6CD1D22}" dt="2026-02-11T16:19:00.194" v="1163" actId="20577"/>
          <ac:graphicFrameMkLst>
            <pc:docMk/>
            <pc:sldMk cId="2166643445" sldId="276"/>
            <ac:graphicFrameMk id="3" creationId="{8413E2CF-464F-F5E1-341F-3D8E5281BBA6}"/>
          </ac:graphicFrameMkLst>
        </pc:graphicFrameChg>
      </pc:sldChg>
      <pc:sldChg chg="addSp delSp modSp add mod">
        <pc:chgData name="Jean-Yves Vuillequez" userId="e7fac481abea6bd0" providerId="LiveId" clId="{79E365E8-22BC-4EC2-9606-9A9AC6CD1D22}" dt="2026-02-03T16:35:41.758" v="1110" actId="20577"/>
        <pc:sldMkLst>
          <pc:docMk/>
          <pc:sldMk cId="611361633" sldId="277"/>
        </pc:sldMkLst>
        <pc:spChg chg="add mod">
          <ac:chgData name="Jean-Yves Vuillequez" userId="e7fac481abea6bd0" providerId="LiveId" clId="{79E365E8-22BC-4EC2-9606-9A9AC6CD1D22}" dt="2026-02-02T18:06:44.954" v="780" actId="14100"/>
          <ac:spMkLst>
            <pc:docMk/>
            <pc:sldMk cId="611361633" sldId="277"/>
            <ac:spMk id="14" creationId="{6A3A4161-11DF-8C4A-C6F6-6B119BFC3CDB}"/>
          </ac:spMkLst>
        </pc:spChg>
        <pc:spChg chg="add mod">
          <ac:chgData name="Jean-Yves Vuillequez" userId="e7fac481abea6bd0" providerId="LiveId" clId="{79E365E8-22BC-4EC2-9606-9A9AC6CD1D22}" dt="2026-02-03T16:35:41.758" v="1110" actId="20577"/>
          <ac:spMkLst>
            <pc:docMk/>
            <pc:sldMk cId="611361633" sldId="277"/>
            <ac:spMk id="15" creationId="{75B56715-10EA-2633-2410-5AABFFEAFA59}"/>
          </ac:spMkLst>
        </pc:spChg>
        <pc:spChg chg="mod">
          <ac:chgData name="Jean-Yves Vuillequez" userId="e7fac481abea6bd0" providerId="LiveId" clId="{79E365E8-22BC-4EC2-9606-9A9AC6CD1D22}" dt="2026-02-02T17:37:23.804" v="746" actId="20577"/>
          <ac:spMkLst>
            <pc:docMk/>
            <pc:sldMk cId="611361633" sldId="277"/>
            <ac:spMk id="68" creationId="{74D7DD58-AF04-7763-38DB-B636276598FD}"/>
          </ac:spMkLst>
        </pc:spChg>
        <pc:picChg chg="add mod">
          <ac:chgData name="Jean-Yves Vuillequez" userId="e7fac481abea6bd0" providerId="LiveId" clId="{79E365E8-22BC-4EC2-9606-9A9AC6CD1D22}" dt="2026-02-03T16:35:25.801" v="1109" actId="1076"/>
          <ac:picMkLst>
            <pc:docMk/>
            <pc:sldMk cId="611361633" sldId="277"/>
            <ac:picMk id="3" creationId="{33FBCFA1-BE8F-FFBD-BFBF-F5C0BCC712DA}"/>
          </ac:picMkLst>
        </pc:picChg>
        <pc:picChg chg="add mod">
          <ac:chgData name="Jean-Yves Vuillequez" userId="e7fac481abea6bd0" providerId="LiveId" clId="{79E365E8-22BC-4EC2-9606-9A9AC6CD1D22}" dt="2026-02-03T16:35:25.801" v="1109" actId="1076"/>
          <ac:picMkLst>
            <pc:docMk/>
            <pc:sldMk cId="611361633" sldId="277"/>
            <ac:picMk id="8" creationId="{45A3FBBD-7727-F197-BB81-5EE5C65E2897}"/>
          </ac:picMkLst>
        </pc:picChg>
        <pc:picChg chg="add mod">
          <ac:chgData name="Jean-Yves Vuillequez" userId="e7fac481abea6bd0" providerId="LiveId" clId="{79E365E8-22BC-4EC2-9606-9A9AC6CD1D22}" dt="2026-02-03T16:35:25.801" v="1109" actId="1076"/>
          <ac:picMkLst>
            <pc:docMk/>
            <pc:sldMk cId="611361633" sldId="277"/>
            <ac:picMk id="13" creationId="{7D7C7D80-0A7A-49C6-FAAC-83C563080403}"/>
          </ac:picMkLst>
        </pc:picChg>
      </pc:sldChg>
      <pc:sldMasterChg chg="add del addSldLayout delSldLayout">
        <pc:chgData name="Jean-Yves Vuillequez" userId="e7fac481abea6bd0" providerId="LiveId" clId="{79E365E8-22BC-4EC2-9606-9A9AC6CD1D22}" dt="2026-01-16T10:47:03.962" v="33" actId="47"/>
        <pc:sldMasterMkLst>
          <pc:docMk/>
          <pc:sldMasterMk cId="604091050" sldId="2147483660"/>
        </pc:sldMasterMkLst>
        <pc:sldLayoutChg chg="add del">
          <pc:chgData name="Jean-Yves Vuillequez" userId="e7fac481abea6bd0" providerId="LiveId" clId="{79E365E8-22BC-4EC2-9606-9A9AC6CD1D22}" dt="2026-01-16T10:47:03.962" v="33" actId="47"/>
          <pc:sldLayoutMkLst>
            <pc:docMk/>
            <pc:sldMasterMk cId="604091050" sldId="2147483660"/>
            <pc:sldLayoutMk cId="1669328441" sldId="2147483661"/>
          </pc:sldLayoutMkLst>
        </pc:sldLayoutChg>
        <pc:sldLayoutChg chg="add del">
          <pc:chgData name="Jean-Yves Vuillequez" userId="e7fac481abea6bd0" providerId="LiveId" clId="{79E365E8-22BC-4EC2-9606-9A9AC6CD1D22}" dt="2026-01-16T10:47:03.962" v="33" actId="47"/>
          <pc:sldLayoutMkLst>
            <pc:docMk/>
            <pc:sldMasterMk cId="604091050" sldId="2147483660"/>
            <pc:sldLayoutMk cId="1628572972" sldId="2147483662"/>
          </pc:sldLayoutMkLst>
        </pc:sldLayoutChg>
        <pc:sldLayoutChg chg="add del">
          <pc:chgData name="Jean-Yves Vuillequez" userId="e7fac481abea6bd0" providerId="LiveId" clId="{79E365E8-22BC-4EC2-9606-9A9AC6CD1D22}" dt="2026-01-16T10:47:03.962" v="33" actId="47"/>
          <pc:sldLayoutMkLst>
            <pc:docMk/>
            <pc:sldMasterMk cId="604091050" sldId="2147483660"/>
            <pc:sldLayoutMk cId="2738534442" sldId="2147483663"/>
          </pc:sldLayoutMkLst>
        </pc:sldLayoutChg>
        <pc:sldLayoutChg chg="add del">
          <pc:chgData name="Jean-Yves Vuillequez" userId="e7fac481abea6bd0" providerId="LiveId" clId="{79E365E8-22BC-4EC2-9606-9A9AC6CD1D22}" dt="2026-01-16T10:47:03.962" v="33" actId="47"/>
          <pc:sldLayoutMkLst>
            <pc:docMk/>
            <pc:sldMasterMk cId="604091050" sldId="2147483660"/>
            <pc:sldLayoutMk cId="2962870219" sldId="2147483664"/>
          </pc:sldLayoutMkLst>
        </pc:sldLayoutChg>
        <pc:sldLayoutChg chg="add del">
          <pc:chgData name="Jean-Yves Vuillequez" userId="e7fac481abea6bd0" providerId="LiveId" clId="{79E365E8-22BC-4EC2-9606-9A9AC6CD1D22}" dt="2026-01-16T10:47:03.962" v="33" actId="47"/>
          <pc:sldLayoutMkLst>
            <pc:docMk/>
            <pc:sldMasterMk cId="604091050" sldId="2147483660"/>
            <pc:sldLayoutMk cId="3254902670" sldId="2147483665"/>
          </pc:sldLayoutMkLst>
        </pc:sldLayoutChg>
        <pc:sldLayoutChg chg="add del">
          <pc:chgData name="Jean-Yves Vuillequez" userId="e7fac481abea6bd0" providerId="LiveId" clId="{79E365E8-22BC-4EC2-9606-9A9AC6CD1D22}" dt="2026-01-16T10:47:03.962" v="33" actId="47"/>
          <pc:sldLayoutMkLst>
            <pc:docMk/>
            <pc:sldMasterMk cId="604091050" sldId="2147483660"/>
            <pc:sldLayoutMk cId="2825252853" sldId="2147483666"/>
          </pc:sldLayoutMkLst>
        </pc:sldLayoutChg>
        <pc:sldLayoutChg chg="add del">
          <pc:chgData name="Jean-Yves Vuillequez" userId="e7fac481abea6bd0" providerId="LiveId" clId="{79E365E8-22BC-4EC2-9606-9A9AC6CD1D22}" dt="2026-01-16T10:47:03.962" v="33" actId="47"/>
          <pc:sldLayoutMkLst>
            <pc:docMk/>
            <pc:sldMasterMk cId="604091050" sldId="2147483660"/>
            <pc:sldLayoutMk cId="3934262042" sldId="2147483667"/>
          </pc:sldLayoutMkLst>
        </pc:sldLayoutChg>
        <pc:sldLayoutChg chg="add del">
          <pc:chgData name="Jean-Yves Vuillequez" userId="e7fac481abea6bd0" providerId="LiveId" clId="{79E365E8-22BC-4EC2-9606-9A9AC6CD1D22}" dt="2026-01-16T10:47:03.962" v="33" actId="47"/>
          <pc:sldLayoutMkLst>
            <pc:docMk/>
            <pc:sldMasterMk cId="604091050" sldId="2147483660"/>
            <pc:sldLayoutMk cId="1499876969" sldId="2147483668"/>
          </pc:sldLayoutMkLst>
        </pc:sldLayoutChg>
        <pc:sldLayoutChg chg="add del">
          <pc:chgData name="Jean-Yves Vuillequez" userId="e7fac481abea6bd0" providerId="LiveId" clId="{79E365E8-22BC-4EC2-9606-9A9AC6CD1D22}" dt="2026-01-16T10:47:03.962" v="33" actId="47"/>
          <pc:sldLayoutMkLst>
            <pc:docMk/>
            <pc:sldMasterMk cId="604091050" sldId="2147483660"/>
            <pc:sldLayoutMk cId="3012943028" sldId="2147483669"/>
          </pc:sldLayoutMkLst>
        </pc:sldLayoutChg>
        <pc:sldLayoutChg chg="add del">
          <pc:chgData name="Jean-Yves Vuillequez" userId="e7fac481abea6bd0" providerId="LiveId" clId="{79E365E8-22BC-4EC2-9606-9A9AC6CD1D22}" dt="2026-01-16T10:47:03.962" v="33" actId="47"/>
          <pc:sldLayoutMkLst>
            <pc:docMk/>
            <pc:sldMasterMk cId="604091050" sldId="2147483660"/>
            <pc:sldLayoutMk cId="4176234486" sldId="2147483670"/>
          </pc:sldLayoutMkLst>
        </pc:sldLayoutChg>
        <pc:sldLayoutChg chg="add del">
          <pc:chgData name="Jean-Yves Vuillequez" userId="e7fac481abea6bd0" providerId="LiveId" clId="{79E365E8-22BC-4EC2-9606-9A9AC6CD1D22}" dt="2026-01-16T10:47:03.962" v="33" actId="47"/>
          <pc:sldLayoutMkLst>
            <pc:docMk/>
            <pc:sldMasterMk cId="604091050" sldId="2147483660"/>
            <pc:sldLayoutMk cId="3598435996" sldId="214748367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77af7a6af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77af7a6af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3bc3b886ea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bc3b886ea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L'idée était de comprendre quels visiteurs sont les plus susceptibles de s'inscrire à la newsletter. Pour cela, nous disposons de quelques informations sur leur profil et leur comportement de navigation. Après une phase d'analyse exploratoire et de préparation des données, nous avons testé deux modèles, Random Forest et XGBoost, puis comparé leurs performances pour retenir le plus efficace et en tirer des recommandations.</a:t>
            </a: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a:extLst>
            <a:ext uri="{FF2B5EF4-FFF2-40B4-BE49-F238E27FC236}">
              <a16:creationId xmlns:a16="http://schemas.microsoft.com/office/drawing/2014/main" id="{7AA87ED3-4F01-8952-1C4D-B44D5235120C}"/>
            </a:ext>
          </a:extLst>
        </p:cNvPr>
        <p:cNvGrpSpPr/>
        <p:nvPr/>
      </p:nvGrpSpPr>
      <p:grpSpPr>
        <a:xfrm>
          <a:off x="0" y="0"/>
          <a:ext cx="0" cy="0"/>
          <a:chOff x="0" y="0"/>
          <a:chExt cx="0" cy="0"/>
        </a:xfrm>
      </p:grpSpPr>
      <p:sp>
        <p:nvSpPr>
          <p:cNvPr id="65" name="Google Shape;65;g3bc3b886ea_0_7:notes">
            <a:extLst>
              <a:ext uri="{FF2B5EF4-FFF2-40B4-BE49-F238E27FC236}">
                <a16:creationId xmlns:a16="http://schemas.microsoft.com/office/drawing/2014/main" id="{D0CAF47D-2FE7-F692-E839-3A61398171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bc3b886ea_0_7:notes">
            <a:extLst>
              <a:ext uri="{FF2B5EF4-FFF2-40B4-BE49-F238E27FC236}">
                <a16:creationId xmlns:a16="http://schemas.microsoft.com/office/drawing/2014/main" id="{A64DE20A-9F7E-4D49-C821-D75DC610A1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Deux éléments ressortent rapidement de l'EDA. </a:t>
            </a:r>
          </a:p>
          <a:p>
            <a:pPr marL="0" lvl="0" indent="0" algn="l" rtl="0">
              <a:spcBef>
                <a:spcPts val="0"/>
              </a:spcBef>
              <a:spcAft>
                <a:spcPts val="0"/>
              </a:spcAft>
              <a:buNone/>
            </a:pPr>
            <a:r>
              <a:rPr lang="fr-FR" dirty="0"/>
              <a:t>D'abord, la conversion est relativement rare puisque seulement 3,2 % des visiteurs s'inscrivent à la newsletter. Ensuite, le nombre de pages visitées semble être un excellent indicateur de conversion. On observe qu'en dessous de 10 pages consultées, les conversions restent très faibles, alors qu'elles augmentent fortement lorsque les utilisateurs poursuivent leur navigation. Cela suggère que l'engagement sur le site joue un rôle majeur dans la décision d'inscription.</a:t>
            </a:r>
            <a:endParaRPr dirty="0"/>
          </a:p>
        </p:txBody>
      </p:sp>
    </p:spTree>
    <p:extLst>
      <p:ext uri="{BB962C8B-B14F-4D97-AF65-F5344CB8AC3E}">
        <p14:creationId xmlns:p14="http://schemas.microsoft.com/office/powerpoint/2010/main" val="12749614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a:extLst>
            <a:ext uri="{FF2B5EF4-FFF2-40B4-BE49-F238E27FC236}">
              <a16:creationId xmlns:a16="http://schemas.microsoft.com/office/drawing/2014/main" id="{6F4A9204-4F8C-AB50-C784-FD1FE169EF99}"/>
            </a:ext>
          </a:extLst>
        </p:cNvPr>
        <p:cNvGrpSpPr/>
        <p:nvPr/>
      </p:nvGrpSpPr>
      <p:grpSpPr>
        <a:xfrm>
          <a:off x="0" y="0"/>
          <a:ext cx="0" cy="0"/>
          <a:chOff x="0" y="0"/>
          <a:chExt cx="0" cy="0"/>
        </a:xfrm>
      </p:grpSpPr>
      <p:sp>
        <p:nvSpPr>
          <p:cNvPr id="65" name="Google Shape;65;g3bc3b886ea_0_7:notes">
            <a:extLst>
              <a:ext uri="{FF2B5EF4-FFF2-40B4-BE49-F238E27FC236}">
                <a16:creationId xmlns:a16="http://schemas.microsoft.com/office/drawing/2014/main" id="{B0C653C8-88B1-FDF4-2018-290B6314173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bc3b886ea_0_7:notes">
            <a:extLst>
              <a:ext uri="{FF2B5EF4-FFF2-40B4-BE49-F238E27FC236}">
                <a16:creationId xmlns:a16="http://schemas.microsoft.com/office/drawing/2014/main" id="{B475399C-F1DA-EF1B-A691-7CF35285A4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Ici, on peut distinguer deux facteurs associés à la conversion. </a:t>
            </a:r>
          </a:p>
          <a:p>
            <a:pPr marL="0" lvl="0" indent="0" algn="l" rtl="0">
              <a:spcBef>
                <a:spcPts val="0"/>
              </a:spcBef>
              <a:spcAft>
                <a:spcPts val="0"/>
              </a:spcAft>
              <a:buNone/>
            </a:pPr>
            <a:r>
              <a:rPr lang="fr-FR" dirty="0"/>
              <a:t>Tout d'abord, l’âge, les utilisateurs les plus jeunes sont les plus susceptibles de s'inscrire à la newsletter, avec un taux de conversion qui diminue progressivement avec l'âge. </a:t>
            </a:r>
          </a:p>
          <a:p>
            <a:pPr marL="0" lvl="0" indent="0" algn="l" rtl="0">
              <a:spcBef>
                <a:spcPts val="0"/>
              </a:spcBef>
              <a:spcAft>
                <a:spcPts val="0"/>
              </a:spcAft>
              <a:buNone/>
            </a:pPr>
            <a:r>
              <a:rPr lang="fr-FR" dirty="0"/>
              <a:t>Et puis, le pays, l'Allemagne et le Royaume-Uni affichent les meilleurs taux de conversion, tandis que la Chine se distingue par un taux très faible. </a:t>
            </a:r>
          </a:p>
          <a:p>
            <a:pPr marL="0" lvl="0" indent="0" algn="l" rtl="0">
              <a:spcBef>
                <a:spcPts val="0"/>
              </a:spcBef>
              <a:spcAft>
                <a:spcPts val="0"/>
              </a:spcAft>
              <a:buNone/>
            </a:pPr>
            <a:endParaRPr lang="fr-FR" dirty="0"/>
          </a:p>
          <a:p>
            <a:pPr marL="0" lvl="0" indent="0" algn="l" rtl="0">
              <a:spcBef>
                <a:spcPts val="0"/>
              </a:spcBef>
              <a:spcAft>
                <a:spcPts val="0"/>
              </a:spcAft>
              <a:buNone/>
            </a:pPr>
            <a:r>
              <a:rPr lang="fr-FR" dirty="0"/>
              <a:t>Ces résultats suggèrent donc  que le comportement des utilisateurs varie selon les segments démographiques et les marchés géographiques.</a:t>
            </a:r>
            <a:endParaRPr dirty="0"/>
          </a:p>
        </p:txBody>
      </p:sp>
    </p:spTree>
    <p:extLst>
      <p:ext uri="{BB962C8B-B14F-4D97-AF65-F5344CB8AC3E}">
        <p14:creationId xmlns:p14="http://schemas.microsoft.com/office/powerpoint/2010/main" val="22795363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a:extLst>
            <a:ext uri="{FF2B5EF4-FFF2-40B4-BE49-F238E27FC236}">
              <a16:creationId xmlns:a16="http://schemas.microsoft.com/office/drawing/2014/main" id="{E4E62ADC-7B1D-A816-1897-18A7BE725976}"/>
            </a:ext>
          </a:extLst>
        </p:cNvPr>
        <p:cNvGrpSpPr/>
        <p:nvPr/>
      </p:nvGrpSpPr>
      <p:grpSpPr>
        <a:xfrm>
          <a:off x="0" y="0"/>
          <a:ext cx="0" cy="0"/>
          <a:chOff x="0" y="0"/>
          <a:chExt cx="0" cy="0"/>
        </a:xfrm>
      </p:grpSpPr>
      <p:sp>
        <p:nvSpPr>
          <p:cNvPr id="65" name="Google Shape;65;g3bc3b886ea_0_7:notes">
            <a:extLst>
              <a:ext uri="{FF2B5EF4-FFF2-40B4-BE49-F238E27FC236}">
                <a16:creationId xmlns:a16="http://schemas.microsoft.com/office/drawing/2014/main" id="{02887301-7912-9B97-83FB-BD8C384087C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bc3b886ea_0_7:notes">
            <a:extLst>
              <a:ext uri="{FF2B5EF4-FFF2-40B4-BE49-F238E27FC236}">
                <a16:creationId xmlns:a16="http://schemas.microsoft.com/office/drawing/2014/main" id="{02D1BF4C-7B81-9EAB-E521-F107780359B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fr-FR" dirty="0"/>
              <a:t>À la suite de l'analyse exploratoire, nous avons développé deux modèles de classification supervisée comme mentionné précédemment : le Random Forest et le XGBoost.</a:t>
            </a:r>
          </a:p>
          <a:p>
            <a:r>
              <a:rPr lang="fr-FR" dirty="0"/>
              <a:t>Pour chacun d'eux, un pipeline de prétraitement a été mis en place à l'aide d'un </a:t>
            </a:r>
            <a:r>
              <a:rPr lang="fr-FR" dirty="0" err="1"/>
              <a:t>ColumnTransformer</a:t>
            </a:r>
            <a:r>
              <a:rPr lang="fr-FR" dirty="0"/>
              <a:t>, avec notamment un encodage des variables catégorielles par </a:t>
            </a:r>
            <a:r>
              <a:rPr lang="fr-FR" dirty="0" err="1"/>
              <a:t>One-Hot</a:t>
            </a:r>
            <a:r>
              <a:rPr lang="fr-FR" dirty="0"/>
              <a:t> </a:t>
            </a:r>
            <a:r>
              <a:rPr lang="fr-FR" dirty="0" err="1"/>
              <a:t>Encoding</a:t>
            </a:r>
            <a:r>
              <a:rPr lang="fr-FR" dirty="0"/>
              <a:t>.</a:t>
            </a:r>
          </a:p>
          <a:p>
            <a:r>
              <a:rPr lang="fr-FR" dirty="0"/>
              <a:t>Les hyperparamètres des deux modèles ont ensuite été optimisés via </a:t>
            </a:r>
            <a:r>
              <a:rPr lang="fr-FR" dirty="0" err="1"/>
              <a:t>GridSearchCV</a:t>
            </a:r>
            <a:r>
              <a:rPr lang="fr-FR" dirty="0"/>
              <a:t> avec validation croisée stratifiée, en utilisant le F1-score comme métrique d'évaluation.</a:t>
            </a:r>
          </a:p>
          <a:p>
            <a:r>
              <a:rPr lang="fr-FR" dirty="0"/>
              <a:t>Nous avons enfin comparé leurs performances afin de sélectionner le modèle final et c’est ainsi que nous obtenons ces résultats : </a:t>
            </a:r>
          </a:p>
          <a:p>
            <a:pPr marL="158750" indent="0">
              <a:buNone/>
            </a:pPr>
            <a:endParaRPr lang="fr-FR" dirty="0"/>
          </a:p>
          <a:p>
            <a:pPr marL="158750" indent="0">
              <a:buNone/>
            </a:pPr>
            <a:endParaRPr lang="fr-FR" dirty="0"/>
          </a:p>
          <a:p>
            <a:pPr marL="457200" indent="-298450"/>
            <a:r>
              <a:rPr lang="fr-FR" dirty="0"/>
              <a:t>Effectivement, après entraînement et évaluation des deux modèles, les performances obtenues sont très proches. Random Forest atteint un F1-score de 0,765 tandis que XGBoost obtient 0,769.</a:t>
            </a:r>
          </a:p>
          <a:p>
            <a:pPr marL="457200" indent="-298450"/>
            <a:r>
              <a:rPr lang="fr-FR" dirty="0"/>
              <a:t>XGBoost présente également un </a:t>
            </a:r>
            <a:r>
              <a:rPr lang="fr-FR" dirty="0" err="1"/>
              <a:t>recall</a:t>
            </a:r>
            <a:r>
              <a:rPr lang="fr-FR" dirty="0"/>
              <a:t> légèrement supérieur, ce qui signifie qu'il identifie davantage d'utilisateurs susceptibles de se convertir, tout en conservant une précision équivalente.</a:t>
            </a:r>
          </a:p>
          <a:p>
            <a:pPr marL="457200" indent="-298450"/>
            <a:r>
              <a:rPr lang="fr-FR" dirty="0"/>
              <a:t>Même si l'écart reste faible, XGBoost est systématiquement meilleur sur les principales métriques. Il a donc été retenu comme modèle final pour la génération des prédictions et une </a:t>
            </a:r>
            <a:r>
              <a:rPr lang="fr-FR" dirty="0" err="1"/>
              <a:t>analysesupplémentaire</a:t>
            </a:r>
            <a:r>
              <a:rPr lang="fr-FR" dirty="0"/>
              <a:t> des facteurs de conversion.</a:t>
            </a:r>
          </a:p>
          <a:p>
            <a:pPr marL="0" lvl="0" indent="0" algn="l" rtl="0">
              <a:spcBef>
                <a:spcPts val="0"/>
              </a:spcBef>
              <a:spcAft>
                <a:spcPts val="0"/>
              </a:spcAft>
              <a:buNone/>
            </a:pPr>
            <a:endParaRPr lang="fr-FR" dirty="0"/>
          </a:p>
          <a:p>
            <a:pPr marL="0" lvl="0" indent="0" algn="l" rtl="0">
              <a:spcBef>
                <a:spcPts val="0"/>
              </a:spcBef>
              <a:spcAft>
                <a:spcPts val="0"/>
              </a:spcAft>
              <a:buNone/>
            </a:pPr>
            <a:endParaRPr lang="fr-FR" dirty="0"/>
          </a:p>
          <a:p>
            <a:pPr marL="0" lvl="0" indent="0" algn="l" rtl="0">
              <a:spcBef>
                <a:spcPts val="0"/>
              </a:spcBef>
              <a:spcAft>
                <a:spcPts val="0"/>
              </a:spcAft>
              <a:buNone/>
            </a:pPr>
            <a:r>
              <a:rPr lang="fr-FR" u="sng" dirty="0"/>
              <a:t>Questions : </a:t>
            </a:r>
          </a:p>
          <a:p>
            <a:pPr marL="0" lvl="0" indent="0" algn="l" rtl="0">
              <a:spcBef>
                <a:spcPts val="0"/>
              </a:spcBef>
              <a:spcAft>
                <a:spcPts val="0"/>
              </a:spcAft>
              <a:buNone/>
            </a:pPr>
            <a:endParaRPr lang="fr-FR" u="sng" dirty="0"/>
          </a:p>
          <a:p>
            <a:pPr marL="0" lvl="0" indent="0" algn="l" rtl="0">
              <a:spcBef>
                <a:spcPts val="0"/>
              </a:spcBef>
              <a:spcAft>
                <a:spcPts val="0"/>
              </a:spcAft>
              <a:buNone/>
            </a:pPr>
            <a:r>
              <a:rPr lang="fr-FR" u="sng" dirty="0"/>
              <a:t>Validation croisée stratifié : </a:t>
            </a:r>
          </a:p>
          <a:p>
            <a:pPr marL="158750" indent="0">
              <a:buNone/>
            </a:pPr>
            <a:r>
              <a:rPr lang="fr-FR" dirty="0"/>
              <a:t>La validation croisée stratifiée permet d'évaluer le modèle sur plusieurs découpages des données tout en conservant le même équilibre entre les classes dans chaque échantillon.</a:t>
            </a:r>
          </a:p>
          <a:p>
            <a:pPr marL="158750" indent="0">
              <a:buNone/>
            </a:pPr>
            <a:endParaRPr lang="fr-FR" dirty="0"/>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u="sng" dirty="0"/>
              <a:t>Pourquoi ?</a:t>
            </a:r>
            <a:endParaRPr lang="fr-FR" dirty="0"/>
          </a:p>
          <a:p>
            <a:pPr marL="158750" indent="0">
              <a:buNone/>
            </a:pPr>
            <a:r>
              <a:rPr lang="fr-FR" dirty="0"/>
              <a:t>Comme le </a:t>
            </a:r>
            <a:r>
              <a:rPr lang="fr-FR" dirty="0" err="1"/>
              <a:t>dataset</a:t>
            </a:r>
            <a:r>
              <a:rPr lang="fr-FR" dirty="0"/>
              <a:t> est fortement déséquilibré, il était important de préserver la proportion de conversions dans chaque </a:t>
            </a:r>
            <a:r>
              <a:rPr lang="fr-FR" dirty="0" err="1"/>
              <a:t>fold</a:t>
            </a:r>
            <a:r>
              <a:rPr lang="fr-FR" dirty="0"/>
              <a:t> afin d'obtenir une estimation fiable du F1-score.</a:t>
            </a:r>
          </a:p>
          <a:p>
            <a:pPr marL="0" lvl="0" indent="0" algn="l" rtl="0">
              <a:spcBef>
                <a:spcPts val="0"/>
              </a:spcBef>
              <a:spcAft>
                <a:spcPts val="0"/>
              </a:spcAft>
              <a:buNone/>
            </a:pPr>
            <a:endParaRPr lang="fr-FR" u="none" dirty="0"/>
          </a:p>
          <a:p>
            <a:pPr marL="0" lvl="0" indent="0" algn="l" rtl="0">
              <a:spcBef>
                <a:spcPts val="0"/>
              </a:spcBef>
              <a:spcAft>
                <a:spcPts val="0"/>
              </a:spcAft>
              <a:buNone/>
            </a:pPr>
            <a:r>
              <a:rPr lang="fr-FR" u="sng" dirty="0"/>
              <a:t>Pas de BASELINE ?</a:t>
            </a:r>
          </a:p>
          <a:p>
            <a:pPr marL="0" lvl="0" indent="0" algn="l" rtl="0">
              <a:spcBef>
                <a:spcPts val="0"/>
              </a:spcBef>
              <a:spcAft>
                <a:spcPts val="0"/>
              </a:spcAft>
              <a:buNone/>
            </a:pPr>
            <a:r>
              <a:rPr lang="fr-FR" dirty="0"/>
              <a:t>Le projet étant évalué sur le F1-score, j'ai choisi d'investir le temps disponible dans l'optimisation et la comparaison des modèles les plus prometteurs plutôt que dans l'analyse détaillée d'une </a:t>
            </a:r>
            <a:r>
              <a:rPr lang="fr-FR" dirty="0" err="1"/>
              <a:t>baseline</a:t>
            </a:r>
            <a:r>
              <a:rPr lang="fr-FR" dirty="0"/>
              <a:t> simple.</a:t>
            </a:r>
            <a:endParaRPr lang="fr-FR" u="none" dirty="0"/>
          </a:p>
          <a:p>
            <a:pPr marL="0" lvl="0" indent="0" algn="l" rtl="0">
              <a:spcBef>
                <a:spcPts val="0"/>
              </a:spcBef>
              <a:spcAft>
                <a:spcPts val="0"/>
              </a:spcAft>
              <a:buNone/>
            </a:pPr>
            <a:endParaRPr lang="fr-FR" u="none" dirty="0"/>
          </a:p>
          <a:p>
            <a:pPr marL="0" lvl="0" indent="0" algn="l" rtl="0">
              <a:spcBef>
                <a:spcPts val="0"/>
              </a:spcBef>
              <a:spcAft>
                <a:spcPts val="0"/>
              </a:spcAft>
              <a:buNone/>
            </a:pPr>
            <a:r>
              <a:rPr lang="fr-FR" u="sng" dirty="0" err="1"/>
              <a:t>Gridsearch</a:t>
            </a:r>
            <a:r>
              <a:rPr lang="fr-FR" u="sng" dirty="0"/>
              <a:t> : </a:t>
            </a:r>
          </a:p>
          <a:p>
            <a:pPr marL="0" lvl="0" indent="0" algn="l" rtl="0">
              <a:spcBef>
                <a:spcPts val="0"/>
              </a:spcBef>
              <a:spcAft>
                <a:spcPts val="0"/>
              </a:spcAft>
              <a:buNone/>
            </a:pPr>
            <a:r>
              <a:rPr lang="fr-FR" dirty="0"/>
              <a:t>Nous avons utilisé </a:t>
            </a:r>
            <a:r>
              <a:rPr lang="fr-FR" dirty="0" err="1"/>
              <a:t>GridSearchCV</a:t>
            </a:r>
            <a:r>
              <a:rPr lang="fr-FR" dirty="0"/>
              <a:t> pour optimiser les hyperparamètres des modèles et obtenir les meilleures performances possibles selon le F1-score. Cela permet de comparer les modèles dans des conditions équitables, chacun étant évalué avec sa meilleure configuration.</a:t>
            </a:r>
          </a:p>
          <a:p>
            <a:pPr marL="0" lvl="0" indent="0" algn="l" rtl="0">
              <a:spcBef>
                <a:spcPts val="0"/>
              </a:spcBef>
              <a:spcAft>
                <a:spcPts val="0"/>
              </a:spcAft>
              <a:buNone/>
            </a:pPr>
            <a:endParaRPr lang="fr-FR" u="sng" dirty="0"/>
          </a:p>
          <a:p>
            <a:pPr marL="0" lvl="0" indent="0" algn="l" rtl="0">
              <a:spcBef>
                <a:spcPts val="0"/>
              </a:spcBef>
              <a:spcAft>
                <a:spcPts val="0"/>
              </a:spcAft>
              <a:buNone/>
            </a:pPr>
            <a:r>
              <a:rPr lang="fr-FR" u="sng" dirty="0"/>
              <a:t>Pourquoi imputer ? </a:t>
            </a:r>
            <a:br>
              <a:rPr lang="fr-FR" u="none" dirty="0"/>
            </a:br>
            <a:r>
              <a:rPr lang="fr-FR" dirty="0"/>
              <a:t>Ils étaient intégrés au pipeline par bonne pratique, mais le </a:t>
            </a:r>
            <a:r>
              <a:rPr lang="fr-FR" dirty="0" err="1"/>
              <a:t>dataset</a:t>
            </a:r>
            <a:r>
              <a:rPr lang="fr-FR" dirty="0"/>
              <a:t> ne contenait pas de valeurs manquantes.</a:t>
            </a:r>
            <a:endParaRPr u="none" dirty="0"/>
          </a:p>
        </p:txBody>
      </p:sp>
    </p:spTree>
    <p:extLst>
      <p:ext uri="{BB962C8B-B14F-4D97-AF65-F5344CB8AC3E}">
        <p14:creationId xmlns:p14="http://schemas.microsoft.com/office/powerpoint/2010/main" val="26314103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a:extLst>
            <a:ext uri="{FF2B5EF4-FFF2-40B4-BE49-F238E27FC236}">
              <a16:creationId xmlns:a16="http://schemas.microsoft.com/office/drawing/2014/main" id="{DEACAE04-82E8-1527-099F-C34807F968AB}"/>
            </a:ext>
          </a:extLst>
        </p:cNvPr>
        <p:cNvGrpSpPr/>
        <p:nvPr/>
      </p:nvGrpSpPr>
      <p:grpSpPr>
        <a:xfrm>
          <a:off x="0" y="0"/>
          <a:ext cx="0" cy="0"/>
          <a:chOff x="0" y="0"/>
          <a:chExt cx="0" cy="0"/>
        </a:xfrm>
      </p:grpSpPr>
      <p:sp>
        <p:nvSpPr>
          <p:cNvPr id="65" name="Google Shape;65;g3bc3b886ea_0_7:notes">
            <a:extLst>
              <a:ext uri="{FF2B5EF4-FFF2-40B4-BE49-F238E27FC236}">
                <a16:creationId xmlns:a16="http://schemas.microsoft.com/office/drawing/2014/main" id="{EA34B4D3-C420-CEDE-19F0-2A376ED833A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bc3b886ea_0_7:notes">
            <a:extLst>
              <a:ext uri="{FF2B5EF4-FFF2-40B4-BE49-F238E27FC236}">
                <a16:creationId xmlns:a16="http://schemas.microsoft.com/office/drawing/2014/main" id="{93DB88D3-B580-1B9B-10D3-062BF42DE81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fr-FR" dirty="0"/>
              <a:t>La matrice de confusion montre que XGBoost détecte correctement la majorité des conversions tout en maintenant un faible nombre de faux positifs.</a:t>
            </a:r>
          </a:p>
          <a:p>
            <a:r>
              <a:rPr lang="fr-FR" dirty="0"/>
              <a:t>L'analyse des variables importantes confirme les résultats observés lors de l'EDA. Le nombre de pages visitées est de loin le facteur le plus déterminant dans la prédiction de la conversion.</a:t>
            </a:r>
          </a:p>
          <a:p>
            <a:r>
              <a:rPr lang="fr-FR" dirty="0"/>
              <a:t>On observe également un effet lié au pays, notamment pour la Chine, ainsi qu'au statut de nouvel utilisateur, et assez faiblement l’âge et les Etats-Unis. À l'inverse, les sources d'acquisition contribuent très peu aux prédictions du modèle.</a:t>
            </a:r>
          </a:p>
        </p:txBody>
      </p:sp>
    </p:spTree>
    <p:extLst>
      <p:ext uri="{BB962C8B-B14F-4D97-AF65-F5344CB8AC3E}">
        <p14:creationId xmlns:p14="http://schemas.microsoft.com/office/powerpoint/2010/main" val="21107991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a:extLst>
            <a:ext uri="{FF2B5EF4-FFF2-40B4-BE49-F238E27FC236}">
              <a16:creationId xmlns:a16="http://schemas.microsoft.com/office/drawing/2014/main" id="{7AB76D47-B09A-2E62-2676-0D3CCC644DAF}"/>
            </a:ext>
          </a:extLst>
        </p:cNvPr>
        <p:cNvGrpSpPr/>
        <p:nvPr/>
      </p:nvGrpSpPr>
      <p:grpSpPr>
        <a:xfrm>
          <a:off x="0" y="0"/>
          <a:ext cx="0" cy="0"/>
          <a:chOff x="0" y="0"/>
          <a:chExt cx="0" cy="0"/>
        </a:xfrm>
      </p:grpSpPr>
      <p:sp>
        <p:nvSpPr>
          <p:cNvPr id="65" name="Google Shape;65;g3bc3b886ea_0_7:notes">
            <a:extLst>
              <a:ext uri="{FF2B5EF4-FFF2-40B4-BE49-F238E27FC236}">
                <a16:creationId xmlns:a16="http://schemas.microsoft.com/office/drawing/2014/main" id="{121C6989-5A6B-36C9-F061-C08E961C8D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bc3b886ea_0_7:notes">
            <a:extLst>
              <a:ext uri="{FF2B5EF4-FFF2-40B4-BE49-F238E27FC236}">
                <a16:creationId xmlns:a16="http://schemas.microsoft.com/office/drawing/2014/main" id="{9DF08306-D815-6CF5-F56C-E7EB02F67EB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fr-FR" dirty="0"/>
              <a:t>Les recommandations découlent directement de l’analyse du modèle. La priorité est d’augmenter l’engagement des utilisateurs, puisque le nombre de pages visitées apparaît à la fois comme le principal facteur de conversion dans le modèle XGBoost et comme la variable la plus fortement associée au taux de conversion lors de l’analyse exploratoire. Des actions visant à encourager la navigation et la découverte de contenu pourraient donc avoir un impact direct sur les inscriptions à la newsletter.</a:t>
            </a:r>
          </a:p>
          <a:p>
            <a:endParaRPr lang="fr-FR" dirty="0"/>
          </a:p>
          <a:p>
            <a:r>
              <a:rPr lang="fr-FR" dirty="0"/>
              <a:t>L’analyse met également en évidence des différences de comportement selon les pays. Les utilisateurs situés en Allemagne, au Royaume-Uni et aux États-Unis présentent les taux de conversion les plus élevés, tandis que la Chine affiche des performances nettement inférieures. Ces résultats suggèrent l’intérêt d’adapter certaines actions marketing aux spécificités de chaque marché.</a:t>
            </a:r>
          </a:p>
          <a:p>
            <a:endParaRPr lang="fr-FR" dirty="0"/>
          </a:p>
          <a:p>
            <a:r>
              <a:rPr lang="fr-FR" dirty="0"/>
              <a:t>Enfin, le statut de nouvel utilisateur apparaît comme une caractéristique associée à la conversion. La mise en place de parcours ou de campagnes personnalisées selon le profil des visiteurs pourrait ainsi contribuer à améliorer les performances.</a:t>
            </a:r>
          </a:p>
          <a:p>
            <a:endParaRPr lang="fr-FR" dirty="0"/>
          </a:p>
          <a:p>
            <a:r>
              <a:rPr lang="fr-FR" dirty="0"/>
              <a:t>D’un point de vue technique, la principale piste d’amélioration concerne le </a:t>
            </a:r>
            <a:r>
              <a:rPr lang="fr-FR" dirty="0" err="1"/>
              <a:t>feature</a:t>
            </a:r>
            <a:r>
              <a:rPr lang="fr-FR" dirty="0"/>
              <a:t> engineering. Le modèle repose actuellement sur un nombre limité de variables et pourrait bénéficier de nouvelles variables comportementales ou d’interactions entre variables afin de capturer davantage d’information et d’améliorer encore ses performances prédictives.</a:t>
            </a:r>
          </a:p>
        </p:txBody>
      </p:sp>
    </p:spTree>
    <p:extLst>
      <p:ext uri="{BB962C8B-B14F-4D97-AF65-F5344CB8AC3E}">
        <p14:creationId xmlns:p14="http://schemas.microsoft.com/office/powerpoint/2010/main" val="25716262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5" name="Google Shape;185;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11"/>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1"/>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extLst>
      <p:ext uri="{BB962C8B-B14F-4D97-AF65-F5344CB8AC3E}">
        <p14:creationId xmlns:p14="http://schemas.microsoft.com/office/powerpoint/2010/main" val="16693284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3"/>
        <p:cNvGrpSpPr/>
        <p:nvPr/>
      </p:nvGrpSpPr>
      <p:grpSpPr>
        <a:xfrm>
          <a:off x="0" y="0"/>
          <a:ext cx="0" cy="0"/>
          <a:chOff x="0" y="0"/>
          <a:chExt cx="0" cy="0"/>
        </a:xfrm>
      </p:grpSpPr>
      <p:sp>
        <p:nvSpPr>
          <p:cNvPr id="14" name="Google Shape;14;p1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1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16" name="Google Shape;16;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extLst>
      <p:ext uri="{BB962C8B-B14F-4D97-AF65-F5344CB8AC3E}">
        <p14:creationId xmlns:p14="http://schemas.microsoft.com/office/powerpoint/2010/main" val="16285729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7"/>
        <p:cNvGrpSpPr/>
        <p:nvPr/>
      </p:nvGrpSpPr>
      <p:grpSpPr>
        <a:xfrm>
          <a:off x="0" y="0"/>
          <a:ext cx="0" cy="0"/>
          <a:chOff x="0" y="0"/>
          <a:chExt cx="0" cy="0"/>
        </a:xfrm>
      </p:grpSpPr>
      <p:sp>
        <p:nvSpPr>
          <p:cNvPr id="18" name="Google Shape;18;p1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extLst>
      <p:ext uri="{BB962C8B-B14F-4D97-AF65-F5344CB8AC3E}">
        <p14:creationId xmlns:p14="http://schemas.microsoft.com/office/powerpoint/2010/main" val="27385344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0"/>
        <p:cNvGrpSpPr/>
        <p:nvPr/>
      </p:nvGrpSpPr>
      <p:grpSpPr>
        <a:xfrm>
          <a:off x="0" y="0"/>
          <a:ext cx="0" cy="0"/>
          <a:chOff x="0" y="0"/>
          <a:chExt cx="0" cy="0"/>
        </a:xfrm>
      </p:grpSpPr>
      <p:sp>
        <p:nvSpPr>
          <p:cNvPr id="21" name="Google Shape;21;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14"/>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3" name="Google Shape;23;p14"/>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4" name="Google Shape;24;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extLst>
      <p:ext uri="{BB962C8B-B14F-4D97-AF65-F5344CB8AC3E}">
        <p14:creationId xmlns:p14="http://schemas.microsoft.com/office/powerpoint/2010/main" val="29628702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5"/>
        <p:cNvGrpSpPr/>
        <p:nvPr/>
      </p:nvGrpSpPr>
      <p:grpSpPr>
        <a:xfrm>
          <a:off x="0" y="0"/>
          <a:ext cx="0" cy="0"/>
          <a:chOff x="0" y="0"/>
          <a:chExt cx="0" cy="0"/>
        </a:xfrm>
      </p:grpSpPr>
      <p:sp>
        <p:nvSpPr>
          <p:cNvPr id="26" name="Google Shape;26;p1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extLst>
      <p:ext uri="{BB962C8B-B14F-4D97-AF65-F5344CB8AC3E}">
        <p14:creationId xmlns:p14="http://schemas.microsoft.com/office/powerpoint/2010/main" val="32549026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8"/>
        <p:cNvGrpSpPr/>
        <p:nvPr/>
      </p:nvGrpSpPr>
      <p:grpSpPr>
        <a:xfrm>
          <a:off x="0" y="0"/>
          <a:ext cx="0" cy="0"/>
          <a:chOff x="0" y="0"/>
          <a:chExt cx="0" cy="0"/>
        </a:xfrm>
      </p:grpSpPr>
      <p:sp>
        <p:nvSpPr>
          <p:cNvPr id="29" name="Google Shape;29;p16"/>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16"/>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1" name="Google Shape;31;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extLst>
      <p:ext uri="{BB962C8B-B14F-4D97-AF65-F5344CB8AC3E}">
        <p14:creationId xmlns:p14="http://schemas.microsoft.com/office/powerpoint/2010/main" val="28252528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2"/>
        <p:cNvGrpSpPr/>
        <p:nvPr/>
      </p:nvGrpSpPr>
      <p:grpSpPr>
        <a:xfrm>
          <a:off x="0" y="0"/>
          <a:ext cx="0" cy="0"/>
          <a:chOff x="0" y="0"/>
          <a:chExt cx="0" cy="0"/>
        </a:xfrm>
      </p:grpSpPr>
      <p:sp>
        <p:nvSpPr>
          <p:cNvPr id="33" name="Google Shape;33;p17"/>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extLst>
      <p:ext uri="{BB962C8B-B14F-4D97-AF65-F5344CB8AC3E}">
        <p14:creationId xmlns:p14="http://schemas.microsoft.com/office/powerpoint/2010/main" val="39342620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5"/>
        <p:cNvGrpSpPr/>
        <p:nvPr/>
      </p:nvGrpSpPr>
      <p:grpSpPr>
        <a:xfrm>
          <a:off x="0" y="0"/>
          <a:ext cx="0" cy="0"/>
          <a:chOff x="0" y="0"/>
          <a:chExt cx="0" cy="0"/>
        </a:xfrm>
      </p:grpSpPr>
      <p:sp>
        <p:nvSpPr>
          <p:cNvPr id="36" name="Google Shape;36;p18"/>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18"/>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18"/>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18"/>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40" name="Google Shape;40;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extLst>
      <p:ext uri="{BB962C8B-B14F-4D97-AF65-F5344CB8AC3E}">
        <p14:creationId xmlns:p14="http://schemas.microsoft.com/office/powerpoint/2010/main" val="14998769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1"/>
        <p:cNvGrpSpPr/>
        <p:nvPr/>
      </p:nvGrpSpPr>
      <p:grpSpPr>
        <a:xfrm>
          <a:off x="0" y="0"/>
          <a:ext cx="0" cy="0"/>
          <a:chOff x="0" y="0"/>
          <a:chExt cx="0" cy="0"/>
        </a:xfrm>
      </p:grpSpPr>
      <p:sp>
        <p:nvSpPr>
          <p:cNvPr id="42" name="Google Shape;42;p19"/>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extLst>
      <p:ext uri="{BB962C8B-B14F-4D97-AF65-F5344CB8AC3E}">
        <p14:creationId xmlns:p14="http://schemas.microsoft.com/office/powerpoint/2010/main" val="30129430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4"/>
        <p:cNvGrpSpPr/>
        <p:nvPr/>
      </p:nvGrpSpPr>
      <p:grpSpPr>
        <a:xfrm>
          <a:off x="0" y="0"/>
          <a:ext cx="0" cy="0"/>
          <a:chOff x="0" y="0"/>
          <a:chExt cx="0" cy="0"/>
        </a:xfrm>
      </p:grpSpPr>
      <p:sp>
        <p:nvSpPr>
          <p:cNvPr id="45" name="Google Shape;45;p20"/>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0"/>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47" name="Google Shape;47;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extLst>
      <p:ext uri="{BB962C8B-B14F-4D97-AF65-F5344CB8AC3E}">
        <p14:creationId xmlns:p14="http://schemas.microsoft.com/office/powerpoint/2010/main" val="41762344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extLst>
      <p:ext uri="{BB962C8B-B14F-4D97-AF65-F5344CB8AC3E}">
        <p14:creationId xmlns:p14="http://schemas.microsoft.com/office/powerpoint/2010/main" val="35984359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fr"/>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extLst>
      <p:ext uri="{BB962C8B-B14F-4D97-AF65-F5344CB8AC3E}">
        <p14:creationId xmlns:p14="http://schemas.microsoft.com/office/powerpoint/2010/main" val="604091050"/>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FDAD2"/>
        </a:solidFill>
        <a:effectLst/>
      </p:bgPr>
    </p:bg>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735474" y="2182215"/>
            <a:ext cx="7411679" cy="61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fr-FR" sz="4000" dirty="0">
                <a:solidFill>
                  <a:srgbClr val="0E3449"/>
                </a:solidFill>
                <a:latin typeface="Inter SemiBold"/>
                <a:ea typeface="Inter SemiBold"/>
                <a:cs typeface="Inter SemiBold"/>
                <a:sym typeface="Inter SemiBold"/>
              </a:rPr>
              <a:t>Conversion rate challenge </a:t>
            </a:r>
            <a:endParaRPr sz="4000" dirty="0">
              <a:solidFill>
                <a:srgbClr val="0E3449"/>
              </a:solidFill>
              <a:latin typeface="Inter SemiBold"/>
              <a:ea typeface="Inter SemiBold"/>
              <a:cs typeface="Inter SemiBold"/>
              <a:sym typeface="Inter SemiBold"/>
            </a:endParaRPr>
          </a:p>
        </p:txBody>
      </p:sp>
      <p:pic>
        <p:nvPicPr>
          <p:cNvPr id="55" name="Google Shape;55;p13"/>
          <p:cNvPicPr preferRelativeResize="0"/>
          <p:nvPr/>
        </p:nvPicPr>
        <p:blipFill>
          <a:blip r:embed="rId3">
            <a:alphaModFix/>
          </a:blip>
          <a:stretch>
            <a:fillRect/>
          </a:stretch>
        </p:blipFill>
        <p:spPr>
          <a:xfrm>
            <a:off x="4685550" y="2595750"/>
            <a:ext cx="3818450" cy="2547749"/>
          </a:xfrm>
          <a:prstGeom prst="rect">
            <a:avLst/>
          </a:prstGeom>
          <a:noFill/>
          <a:ln>
            <a:noFill/>
          </a:ln>
        </p:spPr>
      </p:pic>
      <p:pic>
        <p:nvPicPr>
          <p:cNvPr id="56" name="Google Shape;56;p13"/>
          <p:cNvPicPr preferRelativeResize="0"/>
          <p:nvPr/>
        </p:nvPicPr>
        <p:blipFill>
          <a:blip r:embed="rId4">
            <a:alphaModFix/>
          </a:blip>
          <a:stretch>
            <a:fillRect/>
          </a:stretch>
        </p:blipFill>
        <p:spPr>
          <a:xfrm>
            <a:off x="840550" y="787375"/>
            <a:ext cx="973275" cy="651050"/>
          </a:xfrm>
          <a:prstGeom prst="rect">
            <a:avLst/>
          </a:prstGeom>
          <a:noFill/>
          <a:ln>
            <a:noFill/>
          </a:ln>
        </p:spPr>
      </p:pic>
      <p:sp>
        <p:nvSpPr>
          <p:cNvPr id="57" name="Google Shape;57;p13"/>
          <p:cNvSpPr txBox="1">
            <a:spLocks noGrp="1"/>
          </p:cNvSpPr>
          <p:nvPr>
            <p:ph type="ctrTitle"/>
          </p:nvPr>
        </p:nvSpPr>
        <p:spPr>
          <a:xfrm>
            <a:off x="735464" y="3010605"/>
            <a:ext cx="3897810" cy="533100"/>
          </a:xfrm>
          <a:prstGeom prst="rect">
            <a:avLst/>
          </a:prstGeom>
        </p:spPr>
        <p:txBody>
          <a:bodyPr spcFirstLastPara="1" wrap="square" lIns="91425" tIns="91425" rIns="91425" bIns="91425" anchor="b" anchorCtr="0">
            <a:noAutofit/>
          </a:bodyPr>
          <a:lstStyle/>
          <a:p>
            <a:pPr lvl="0" algn="l"/>
            <a:r>
              <a:rPr lang="fr-FR" sz="2500" dirty="0" err="1">
                <a:solidFill>
                  <a:schemeClr val="lt1"/>
                </a:solidFill>
                <a:latin typeface="Inter Medium"/>
                <a:ea typeface="Inter Medium"/>
                <a:cs typeface="Inter Medium"/>
                <a:sym typeface="Inter Medium"/>
              </a:rPr>
              <a:t>Supervised</a:t>
            </a:r>
            <a:r>
              <a:rPr lang="fr-FR" sz="2500" dirty="0">
                <a:solidFill>
                  <a:schemeClr val="lt1"/>
                </a:solidFill>
                <a:latin typeface="Inter Medium"/>
                <a:ea typeface="Inter Medium"/>
                <a:cs typeface="Inter Medium"/>
                <a:sym typeface="Inter Medium"/>
              </a:rPr>
              <a:t> Machine Learning</a:t>
            </a:r>
            <a:endParaRPr sz="2500" dirty="0">
              <a:solidFill>
                <a:schemeClr val="lt1"/>
              </a:solidFill>
              <a:latin typeface="Inter Medium"/>
              <a:ea typeface="Inter Medium"/>
              <a:cs typeface="Inter Medium"/>
              <a:sym typeface="Inter Medium"/>
            </a:endParaRPr>
          </a:p>
        </p:txBody>
      </p:sp>
      <p:sp>
        <p:nvSpPr>
          <p:cNvPr id="2" name="Google Shape;57;p13">
            <a:extLst>
              <a:ext uri="{FF2B5EF4-FFF2-40B4-BE49-F238E27FC236}">
                <a16:creationId xmlns:a16="http://schemas.microsoft.com/office/drawing/2014/main" id="{57DEF025-3287-AC4F-B3FC-747B4D27CCFE}"/>
              </a:ext>
            </a:extLst>
          </p:cNvPr>
          <p:cNvSpPr txBox="1">
            <a:spLocks/>
          </p:cNvSpPr>
          <p:nvPr/>
        </p:nvSpPr>
        <p:spPr>
          <a:xfrm>
            <a:off x="735464" y="3693307"/>
            <a:ext cx="2929820" cy="278399"/>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9pPr>
          </a:lstStyle>
          <a:p>
            <a:pPr algn="l"/>
            <a:r>
              <a:rPr lang="fr-FR" sz="1200" b="1" dirty="0">
                <a:solidFill>
                  <a:schemeClr val="lt1"/>
                </a:solidFill>
                <a:latin typeface="Inter Medium"/>
                <a:ea typeface="Inter Medium"/>
                <a:cs typeface="Inter Medium"/>
                <a:sym typeface="Inter Medium"/>
              </a:rPr>
              <a:t>Rédacteur : </a:t>
            </a:r>
            <a:r>
              <a:rPr lang="fr-FR" sz="1200" dirty="0">
                <a:solidFill>
                  <a:schemeClr val="lt1"/>
                </a:solidFill>
                <a:latin typeface="Inter Medium"/>
                <a:ea typeface="Inter Medium"/>
                <a:cs typeface="Inter Medium"/>
                <a:sym typeface="Inter Medium"/>
              </a:rPr>
              <a:t>Manjakasoa Ranjatoson</a:t>
            </a:r>
          </a:p>
        </p:txBody>
      </p:sp>
      <p:sp>
        <p:nvSpPr>
          <p:cNvPr id="3" name="Google Shape;54;p13">
            <a:extLst>
              <a:ext uri="{FF2B5EF4-FFF2-40B4-BE49-F238E27FC236}">
                <a16:creationId xmlns:a16="http://schemas.microsoft.com/office/drawing/2014/main" id="{124BAD35-7509-EAFD-F0C5-0C17E26060D0}"/>
              </a:ext>
            </a:extLst>
          </p:cNvPr>
          <p:cNvSpPr txBox="1">
            <a:spLocks/>
          </p:cNvSpPr>
          <p:nvPr/>
        </p:nvSpPr>
        <p:spPr>
          <a:xfrm>
            <a:off x="744900" y="1683667"/>
            <a:ext cx="7411679" cy="617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9pPr>
          </a:lstStyle>
          <a:p>
            <a:pPr algn="l"/>
            <a:r>
              <a:rPr lang="fr-FR" sz="1200" dirty="0"/>
              <a:t>RNCP35288 CDSD</a:t>
            </a:r>
            <a:r>
              <a:rPr lang="fr-FR" sz="1200" dirty="0">
                <a:solidFill>
                  <a:srgbClr val="0E3449"/>
                </a:solidFill>
                <a:latin typeface="Inter SemiBold"/>
                <a:ea typeface="Inter SemiBold"/>
                <a:cs typeface="Inter SemiBold"/>
                <a:sym typeface="Inter SemiBold"/>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ctrTitle" idx="4294967295"/>
          </p:nvPr>
        </p:nvSpPr>
        <p:spPr>
          <a:xfrm>
            <a:off x="1192664" y="403309"/>
            <a:ext cx="7033070" cy="533100"/>
          </a:xfrm>
          <a:prstGeom prst="rect">
            <a:avLst/>
          </a:prstGeom>
          <a:noFill/>
          <a:ln>
            <a:noFill/>
          </a:ln>
        </p:spPr>
        <p:txBody>
          <a:bodyPr spcFirstLastPara="1" wrap="square" lIns="91425" tIns="91425" rIns="91425" bIns="91425" anchor="t" anchorCtr="0">
            <a:noAutofit/>
          </a:bodyPr>
          <a:lstStyle/>
          <a:p>
            <a:r>
              <a:rPr lang="fr-FR" sz="2500" dirty="0">
                <a:solidFill>
                  <a:srgbClr val="0E3449"/>
                </a:solidFill>
                <a:latin typeface="Inter SemiBold"/>
                <a:ea typeface="Inter SemiBold"/>
                <a:sym typeface="Inter SemiBold"/>
              </a:rPr>
              <a:t>Contexte</a:t>
            </a:r>
            <a:endParaRPr sz="2500" dirty="0">
              <a:solidFill>
                <a:srgbClr val="0E3449"/>
              </a:solidFill>
              <a:latin typeface="Inter SemiBold"/>
              <a:ea typeface="Inter SemiBold"/>
              <a:sym typeface="Inter SemiBold"/>
            </a:endParaRPr>
          </a:p>
        </p:txBody>
      </p:sp>
      <p:pic>
        <p:nvPicPr>
          <p:cNvPr id="75" name="Google Shape;75;p15"/>
          <p:cNvPicPr preferRelativeResize="0"/>
          <p:nvPr/>
        </p:nvPicPr>
        <p:blipFill>
          <a:blip r:embed="rId3">
            <a:alphaModFix/>
          </a:blip>
          <a:stretch>
            <a:fillRect/>
          </a:stretch>
        </p:blipFill>
        <p:spPr>
          <a:xfrm>
            <a:off x="463375" y="482852"/>
            <a:ext cx="576900" cy="385904"/>
          </a:xfrm>
          <a:prstGeom prst="rect">
            <a:avLst/>
          </a:prstGeom>
          <a:noFill/>
          <a:ln>
            <a:noFill/>
          </a:ln>
        </p:spPr>
      </p:pic>
      <p:sp>
        <p:nvSpPr>
          <p:cNvPr id="76" name="Google Shape;76;p15"/>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Flèche : droite 1">
            <a:extLst>
              <a:ext uri="{FF2B5EF4-FFF2-40B4-BE49-F238E27FC236}">
                <a16:creationId xmlns:a16="http://schemas.microsoft.com/office/drawing/2014/main" id="{86EAA274-6C17-67CB-A10D-51EEF8179EBB}"/>
              </a:ext>
            </a:extLst>
          </p:cNvPr>
          <p:cNvSpPr/>
          <p:nvPr/>
        </p:nvSpPr>
        <p:spPr>
          <a:xfrm>
            <a:off x="617497" y="1132209"/>
            <a:ext cx="541478" cy="531410"/>
          </a:xfrm>
          <a:prstGeom prst="right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200"/>
          </a:p>
        </p:txBody>
      </p:sp>
      <p:sp>
        <p:nvSpPr>
          <p:cNvPr id="5" name="Google Shape;69;p3">
            <a:extLst>
              <a:ext uri="{FF2B5EF4-FFF2-40B4-BE49-F238E27FC236}">
                <a16:creationId xmlns:a16="http://schemas.microsoft.com/office/drawing/2014/main" id="{C9E79F0C-F757-C223-90A8-073753256F1C}"/>
              </a:ext>
            </a:extLst>
          </p:cNvPr>
          <p:cNvSpPr/>
          <p:nvPr/>
        </p:nvSpPr>
        <p:spPr>
          <a:xfrm>
            <a:off x="1260039" y="1129309"/>
            <a:ext cx="7200567" cy="641985"/>
          </a:xfrm>
          <a:prstGeom prst="rect">
            <a:avLst/>
          </a:prstGeom>
          <a:solidFill>
            <a:schemeClr val="accent3">
              <a:lumMod val="20000"/>
              <a:lumOff val="8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6" name="Google Shape;73;p3">
            <a:extLst>
              <a:ext uri="{FF2B5EF4-FFF2-40B4-BE49-F238E27FC236}">
                <a16:creationId xmlns:a16="http://schemas.microsoft.com/office/drawing/2014/main" id="{243FF7A6-205C-44FD-4C04-67C8CD0DF557}"/>
              </a:ext>
            </a:extLst>
          </p:cNvPr>
          <p:cNvSpPr txBox="1">
            <a:spLocks/>
          </p:cNvSpPr>
          <p:nvPr/>
        </p:nvSpPr>
        <p:spPr>
          <a:xfrm>
            <a:off x="1260039" y="1118439"/>
            <a:ext cx="7200567" cy="30066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buSzPct val="100000"/>
              <a:buNone/>
            </a:pPr>
            <a:r>
              <a:rPr lang="fr-FR" sz="1400" b="1" dirty="0"/>
              <a:t>Objectif : </a:t>
            </a:r>
            <a:r>
              <a:rPr lang="fr-FR" sz="1400" dirty="0"/>
              <a:t>Prédire la conversion des visiteurs à la newsletter et identifier les facteurs clés influençant leur décision d’inscription.</a:t>
            </a:r>
          </a:p>
        </p:txBody>
      </p:sp>
      <p:sp>
        <p:nvSpPr>
          <p:cNvPr id="72" name="Flèche : droite 71">
            <a:extLst>
              <a:ext uri="{FF2B5EF4-FFF2-40B4-BE49-F238E27FC236}">
                <a16:creationId xmlns:a16="http://schemas.microsoft.com/office/drawing/2014/main" id="{CC5A5943-95B8-9001-0CE5-5A0E7A057135}"/>
              </a:ext>
            </a:extLst>
          </p:cNvPr>
          <p:cNvSpPr/>
          <p:nvPr/>
        </p:nvSpPr>
        <p:spPr>
          <a:xfrm>
            <a:off x="617497" y="2150586"/>
            <a:ext cx="541478" cy="531410"/>
          </a:xfrm>
          <a:prstGeom prst="right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200"/>
          </a:p>
        </p:txBody>
      </p:sp>
      <p:sp>
        <p:nvSpPr>
          <p:cNvPr id="73" name="Google Shape;69;p3">
            <a:extLst>
              <a:ext uri="{FF2B5EF4-FFF2-40B4-BE49-F238E27FC236}">
                <a16:creationId xmlns:a16="http://schemas.microsoft.com/office/drawing/2014/main" id="{07A23F0B-B4FA-D663-D358-18B8117E674E}"/>
              </a:ext>
            </a:extLst>
          </p:cNvPr>
          <p:cNvSpPr/>
          <p:nvPr/>
        </p:nvSpPr>
        <p:spPr>
          <a:xfrm>
            <a:off x="1260038" y="2019246"/>
            <a:ext cx="7200567" cy="861428"/>
          </a:xfrm>
          <a:prstGeom prst="rect">
            <a:avLst/>
          </a:prstGeom>
          <a:solidFill>
            <a:schemeClr val="accent3">
              <a:lumMod val="20000"/>
              <a:lumOff val="8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b="0" i="0" u="none" strike="noStrike" cap="none" dirty="0">
              <a:solidFill>
                <a:schemeClr val="lt1"/>
              </a:solidFill>
              <a:latin typeface="Arial"/>
              <a:ea typeface="Arial"/>
              <a:cs typeface="Arial"/>
              <a:sym typeface="Arial"/>
            </a:endParaRPr>
          </a:p>
        </p:txBody>
      </p:sp>
      <p:sp>
        <p:nvSpPr>
          <p:cNvPr id="74" name="Google Shape;73;p3">
            <a:extLst>
              <a:ext uri="{FF2B5EF4-FFF2-40B4-BE49-F238E27FC236}">
                <a16:creationId xmlns:a16="http://schemas.microsoft.com/office/drawing/2014/main" id="{9DB93DE2-52AF-624C-2521-0CBC83F1DAEA}"/>
              </a:ext>
            </a:extLst>
          </p:cNvPr>
          <p:cNvSpPr txBox="1">
            <a:spLocks/>
          </p:cNvSpPr>
          <p:nvPr/>
        </p:nvSpPr>
        <p:spPr>
          <a:xfrm>
            <a:off x="1240148" y="1949657"/>
            <a:ext cx="7200567" cy="103568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buNone/>
            </a:pPr>
            <a:r>
              <a:rPr lang="fr-FR" sz="1400" b="1" dirty="0"/>
              <a:t>Data : </a:t>
            </a:r>
          </a:p>
          <a:p>
            <a:pPr marL="114300" indent="0">
              <a:buNone/>
            </a:pPr>
            <a:r>
              <a:rPr lang="fr-FR" sz="1400" dirty="0"/>
              <a:t>Profil utilisateur (âge, pays, statut) 		Source d'acquisition </a:t>
            </a:r>
          </a:p>
          <a:p>
            <a:pPr marL="114300" indent="0">
              <a:buNone/>
            </a:pPr>
            <a:r>
              <a:rPr lang="fr-FR" sz="1400" dirty="0"/>
              <a:t>Comportement de navigation (pages visitées) 	Conversion (variable cible) </a:t>
            </a:r>
          </a:p>
          <a:p>
            <a:pPr marL="114300" indent="0">
              <a:buSzPct val="100000"/>
              <a:buNone/>
            </a:pPr>
            <a:endParaRPr lang="fr-FR" sz="1400" dirty="0"/>
          </a:p>
        </p:txBody>
      </p:sp>
      <p:sp>
        <p:nvSpPr>
          <p:cNvPr id="81" name="Flèche : droite 80">
            <a:extLst>
              <a:ext uri="{FF2B5EF4-FFF2-40B4-BE49-F238E27FC236}">
                <a16:creationId xmlns:a16="http://schemas.microsoft.com/office/drawing/2014/main" id="{2DBE87AA-DC75-2572-80DE-102D18A13697}"/>
              </a:ext>
            </a:extLst>
          </p:cNvPr>
          <p:cNvSpPr/>
          <p:nvPr/>
        </p:nvSpPr>
        <p:spPr>
          <a:xfrm>
            <a:off x="617497" y="3178911"/>
            <a:ext cx="541478" cy="531410"/>
          </a:xfrm>
          <a:prstGeom prst="right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200"/>
          </a:p>
        </p:txBody>
      </p:sp>
      <p:sp>
        <p:nvSpPr>
          <p:cNvPr id="82" name="Google Shape;69;p3">
            <a:extLst>
              <a:ext uri="{FF2B5EF4-FFF2-40B4-BE49-F238E27FC236}">
                <a16:creationId xmlns:a16="http://schemas.microsoft.com/office/drawing/2014/main" id="{FC59DAA1-9B14-7026-9D1F-C0DD37590B10}"/>
              </a:ext>
            </a:extLst>
          </p:cNvPr>
          <p:cNvSpPr/>
          <p:nvPr/>
        </p:nvSpPr>
        <p:spPr>
          <a:xfrm>
            <a:off x="1260038" y="3200408"/>
            <a:ext cx="7200567" cy="1431063"/>
          </a:xfrm>
          <a:prstGeom prst="rect">
            <a:avLst/>
          </a:prstGeom>
          <a:solidFill>
            <a:schemeClr val="accent3">
              <a:lumMod val="20000"/>
              <a:lumOff val="8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83" name="Google Shape;73;p3">
            <a:extLst>
              <a:ext uri="{FF2B5EF4-FFF2-40B4-BE49-F238E27FC236}">
                <a16:creationId xmlns:a16="http://schemas.microsoft.com/office/drawing/2014/main" id="{F6AE8A9E-2414-9AB6-018C-C685CB23EAA8}"/>
              </a:ext>
            </a:extLst>
          </p:cNvPr>
          <p:cNvSpPr txBox="1">
            <a:spLocks/>
          </p:cNvSpPr>
          <p:nvPr/>
        </p:nvSpPr>
        <p:spPr>
          <a:xfrm>
            <a:off x="1260039" y="3247454"/>
            <a:ext cx="7200567" cy="30066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buSzPct val="100000"/>
              <a:buNone/>
            </a:pPr>
            <a:r>
              <a:rPr lang="fr-FR" sz="1400" b="1" dirty="0"/>
              <a:t>Méthodologie :</a:t>
            </a:r>
            <a:endParaRPr lang="fr-FR" sz="1400" dirty="0"/>
          </a:p>
        </p:txBody>
      </p:sp>
      <p:grpSp>
        <p:nvGrpSpPr>
          <p:cNvPr id="7" name="Groupe 6">
            <a:extLst>
              <a:ext uri="{FF2B5EF4-FFF2-40B4-BE49-F238E27FC236}">
                <a16:creationId xmlns:a16="http://schemas.microsoft.com/office/drawing/2014/main" id="{22FBBE8F-0634-76B3-524A-215301EEC5AE}"/>
              </a:ext>
            </a:extLst>
          </p:cNvPr>
          <p:cNvGrpSpPr/>
          <p:nvPr/>
        </p:nvGrpSpPr>
        <p:grpSpPr>
          <a:xfrm>
            <a:off x="1311994" y="3515892"/>
            <a:ext cx="5255992" cy="996754"/>
            <a:chOff x="5315548" y="5278590"/>
            <a:chExt cx="5518498" cy="996754"/>
          </a:xfrm>
        </p:grpSpPr>
        <p:sp>
          <p:nvSpPr>
            <p:cNvPr id="8" name="ZoneTexte 7">
              <a:extLst>
                <a:ext uri="{FF2B5EF4-FFF2-40B4-BE49-F238E27FC236}">
                  <a16:creationId xmlns:a16="http://schemas.microsoft.com/office/drawing/2014/main" id="{D3D901F2-0479-03C1-9C4D-1542F14A7791}"/>
                </a:ext>
              </a:extLst>
            </p:cNvPr>
            <p:cNvSpPr txBox="1"/>
            <p:nvPr/>
          </p:nvSpPr>
          <p:spPr>
            <a:xfrm>
              <a:off x="5315548" y="5533530"/>
              <a:ext cx="667957" cy="461665"/>
            </a:xfrm>
            <a:prstGeom prst="rect">
              <a:avLst/>
            </a:prstGeom>
            <a:solidFill>
              <a:schemeClr val="bg1"/>
            </a:solidFill>
            <a:ln>
              <a:solidFill>
                <a:srgbClr val="0E3449"/>
              </a:solidFill>
            </a:ln>
          </p:spPr>
          <p:txBody>
            <a:bodyPr wrap="square" rtlCol="0">
              <a:spAutoFit/>
            </a:bodyPr>
            <a:lstStyle/>
            <a:p>
              <a:r>
                <a:rPr lang="fr-FR" sz="1200" dirty="0"/>
                <a:t>EDA </a:t>
              </a:r>
            </a:p>
            <a:p>
              <a:endParaRPr lang="fr-FR" sz="1200" dirty="0"/>
            </a:p>
          </p:txBody>
        </p:sp>
        <p:sp>
          <p:nvSpPr>
            <p:cNvPr id="9" name="ZoneTexte 8">
              <a:extLst>
                <a:ext uri="{FF2B5EF4-FFF2-40B4-BE49-F238E27FC236}">
                  <a16:creationId xmlns:a16="http://schemas.microsoft.com/office/drawing/2014/main" id="{E86B944B-0AC6-8C1B-B655-51FE85D19559}"/>
                </a:ext>
              </a:extLst>
            </p:cNvPr>
            <p:cNvSpPr txBox="1"/>
            <p:nvPr/>
          </p:nvSpPr>
          <p:spPr>
            <a:xfrm>
              <a:off x="7780828" y="5278590"/>
              <a:ext cx="1255895" cy="630942"/>
            </a:xfrm>
            <a:prstGeom prst="rect">
              <a:avLst/>
            </a:prstGeom>
            <a:solidFill>
              <a:schemeClr val="bg1"/>
            </a:solidFill>
            <a:ln>
              <a:solidFill>
                <a:srgbClr val="0E3449"/>
              </a:solidFill>
            </a:ln>
          </p:spPr>
          <p:txBody>
            <a:bodyPr wrap="square" rtlCol="0">
              <a:spAutoFit/>
            </a:bodyPr>
            <a:lstStyle/>
            <a:p>
              <a:pPr lvl="1">
                <a:spcBef>
                  <a:spcPts val="600"/>
                </a:spcBef>
                <a:buSzPct val="100000"/>
              </a:pPr>
              <a:r>
                <a:rPr lang="fr-FR" sz="1200" dirty="0"/>
                <a:t>Random Forest</a:t>
              </a:r>
            </a:p>
            <a:p>
              <a:pPr lvl="1">
                <a:spcBef>
                  <a:spcPts val="600"/>
                </a:spcBef>
                <a:buSzPct val="100000"/>
              </a:pPr>
              <a:endParaRPr lang="fr-FR" sz="600" dirty="0"/>
            </a:p>
          </p:txBody>
        </p:sp>
        <p:sp>
          <p:nvSpPr>
            <p:cNvPr id="10" name="ZoneTexte 9">
              <a:extLst>
                <a:ext uri="{FF2B5EF4-FFF2-40B4-BE49-F238E27FC236}">
                  <a16:creationId xmlns:a16="http://schemas.microsoft.com/office/drawing/2014/main" id="{15387661-5F0D-91A7-566A-CDC1103CAD47}"/>
                </a:ext>
              </a:extLst>
            </p:cNvPr>
            <p:cNvSpPr txBox="1"/>
            <p:nvPr/>
          </p:nvSpPr>
          <p:spPr>
            <a:xfrm>
              <a:off x="7780827" y="5998345"/>
              <a:ext cx="1255895" cy="276999"/>
            </a:xfrm>
            <a:prstGeom prst="rect">
              <a:avLst/>
            </a:prstGeom>
            <a:solidFill>
              <a:schemeClr val="bg1"/>
            </a:solidFill>
            <a:ln>
              <a:solidFill>
                <a:srgbClr val="0E3449"/>
              </a:solidFill>
            </a:ln>
          </p:spPr>
          <p:txBody>
            <a:bodyPr wrap="square" rtlCol="0">
              <a:spAutoFit/>
            </a:bodyPr>
            <a:lstStyle/>
            <a:p>
              <a:pPr>
                <a:spcBef>
                  <a:spcPts val="600"/>
                </a:spcBef>
                <a:buSzPct val="100000"/>
              </a:pPr>
              <a:r>
                <a:rPr lang="fr-FR" sz="1200" dirty="0"/>
                <a:t>XGBoost</a:t>
              </a:r>
            </a:p>
          </p:txBody>
        </p:sp>
        <p:sp>
          <p:nvSpPr>
            <p:cNvPr id="11" name="ZoneTexte 10">
              <a:extLst>
                <a:ext uri="{FF2B5EF4-FFF2-40B4-BE49-F238E27FC236}">
                  <a16:creationId xmlns:a16="http://schemas.microsoft.com/office/drawing/2014/main" id="{B7BA56DF-ACB5-96AC-1B66-ACE0F51740D7}"/>
                </a:ext>
              </a:extLst>
            </p:cNvPr>
            <p:cNvSpPr txBox="1"/>
            <p:nvPr/>
          </p:nvSpPr>
          <p:spPr>
            <a:xfrm>
              <a:off x="9637794" y="5436995"/>
              <a:ext cx="1196252" cy="830997"/>
            </a:xfrm>
            <a:prstGeom prst="rect">
              <a:avLst/>
            </a:prstGeom>
            <a:solidFill>
              <a:schemeClr val="bg1"/>
            </a:solidFill>
            <a:ln>
              <a:solidFill>
                <a:srgbClr val="0E3449"/>
              </a:solidFill>
            </a:ln>
          </p:spPr>
          <p:txBody>
            <a:bodyPr wrap="square" rtlCol="0">
              <a:spAutoFit/>
            </a:bodyPr>
            <a:lstStyle/>
            <a:p>
              <a:r>
                <a:rPr lang="fr-FR" sz="1200" dirty="0"/>
                <a:t>Comparaison des performances</a:t>
              </a:r>
            </a:p>
            <a:p>
              <a:r>
                <a:rPr lang="fr-FR" sz="1200" dirty="0"/>
                <a:t> </a:t>
              </a:r>
            </a:p>
          </p:txBody>
        </p:sp>
        <p:cxnSp>
          <p:nvCxnSpPr>
            <p:cNvPr id="16" name="Connecteur droit avec flèche 15">
              <a:extLst>
                <a:ext uri="{FF2B5EF4-FFF2-40B4-BE49-F238E27FC236}">
                  <a16:creationId xmlns:a16="http://schemas.microsoft.com/office/drawing/2014/main" id="{C9C23D12-455C-12D3-FE2F-F0013DF9B356}"/>
                </a:ext>
              </a:extLst>
            </p:cNvPr>
            <p:cNvCxnSpPr>
              <a:cxnSpLocks/>
              <a:stCxn id="8" idx="3"/>
              <a:endCxn id="3" idx="1"/>
            </p:cNvCxnSpPr>
            <p:nvPr/>
          </p:nvCxnSpPr>
          <p:spPr>
            <a:xfrm>
              <a:off x="5983505" y="5764363"/>
              <a:ext cx="231314" cy="1181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9" name="Connecteur droit avec flèche 18">
              <a:extLst>
                <a:ext uri="{FF2B5EF4-FFF2-40B4-BE49-F238E27FC236}">
                  <a16:creationId xmlns:a16="http://schemas.microsoft.com/office/drawing/2014/main" id="{56267556-01E4-8554-D451-DCBFD1626D88}"/>
                </a:ext>
              </a:extLst>
            </p:cNvPr>
            <p:cNvCxnSpPr>
              <a:cxnSpLocks/>
              <a:stCxn id="10" idx="3"/>
            </p:cNvCxnSpPr>
            <p:nvPr/>
          </p:nvCxnSpPr>
          <p:spPr>
            <a:xfrm flipV="1">
              <a:off x="9036722" y="6136844"/>
              <a:ext cx="601072" cy="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sp>
        <p:nvSpPr>
          <p:cNvPr id="3" name="ZoneTexte 2">
            <a:extLst>
              <a:ext uri="{FF2B5EF4-FFF2-40B4-BE49-F238E27FC236}">
                <a16:creationId xmlns:a16="http://schemas.microsoft.com/office/drawing/2014/main" id="{777E9FE9-1453-74CB-A5AA-1E88C997A777}"/>
              </a:ext>
            </a:extLst>
          </p:cNvPr>
          <p:cNvSpPr txBox="1"/>
          <p:nvPr/>
        </p:nvSpPr>
        <p:spPr>
          <a:xfrm>
            <a:off x="2168488" y="3782645"/>
            <a:ext cx="1196154" cy="461665"/>
          </a:xfrm>
          <a:prstGeom prst="rect">
            <a:avLst/>
          </a:prstGeom>
          <a:solidFill>
            <a:schemeClr val="bg1"/>
          </a:solidFill>
          <a:ln>
            <a:solidFill>
              <a:srgbClr val="0E3449"/>
            </a:solidFill>
          </a:ln>
        </p:spPr>
        <p:txBody>
          <a:bodyPr wrap="square" rtlCol="0">
            <a:spAutoFit/>
          </a:bodyPr>
          <a:lstStyle/>
          <a:p>
            <a:r>
              <a:rPr lang="fr-FR" sz="1200" dirty="0"/>
              <a:t>Prétraitements </a:t>
            </a:r>
          </a:p>
          <a:p>
            <a:endParaRPr lang="fr-FR" sz="1200" dirty="0"/>
          </a:p>
        </p:txBody>
      </p:sp>
      <p:cxnSp>
        <p:nvCxnSpPr>
          <p:cNvPr id="13" name="Connecteur droit avec flèche 12">
            <a:extLst>
              <a:ext uri="{FF2B5EF4-FFF2-40B4-BE49-F238E27FC236}">
                <a16:creationId xmlns:a16="http://schemas.microsoft.com/office/drawing/2014/main" id="{AD52D419-2E27-978C-A491-7EF14B2B4F90}"/>
              </a:ext>
            </a:extLst>
          </p:cNvPr>
          <p:cNvCxnSpPr>
            <a:cxnSpLocks/>
            <a:stCxn id="3" idx="3"/>
            <a:endCxn id="9" idx="1"/>
          </p:cNvCxnSpPr>
          <p:nvPr/>
        </p:nvCxnSpPr>
        <p:spPr>
          <a:xfrm flipV="1">
            <a:off x="3364642" y="3831363"/>
            <a:ext cx="295363" cy="18211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9" name="Connecteur droit avec flèche 28">
            <a:extLst>
              <a:ext uri="{FF2B5EF4-FFF2-40B4-BE49-F238E27FC236}">
                <a16:creationId xmlns:a16="http://schemas.microsoft.com/office/drawing/2014/main" id="{3AB6EA91-E3DA-B85E-92D4-37586282BCA4}"/>
              </a:ext>
            </a:extLst>
          </p:cNvPr>
          <p:cNvCxnSpPr>
            <a:cxnSpLocks/>
            <a:stCxn id="3" idx="3"/>
            <a:endCxn id="10" idx="1"/>
          </p:cNvCxnSpPr>
          <p:nvPr/>
        </p:nvCxnSpPr>
        <p:spPr>
          <a:xfrm>
            <a:off x="3364642" y="4013478"/>
            <a:ext cx="295362" cy="3606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2" name="Connecteur droit avec flèche 31">
            <a:extLst>
              <a:ext uri="{FF2B5EF4-FFF2-40B4-BE49-F238E27FC236}">
                <a16:creationId xmlns:a16="http://schemas.microsoft.com/office/drawing/2014/main" id="{B78EF91A-6498-D105-2D30-41436E00AE35}"/>
              </a:ext>
            </a:extLst>
          </p:cNvPr>
          <p:cNvCxnSpPr>
            <a:cxnSpLocks/>
            <a:stCxn id="9" idx="3"/>
          </p:cNvCxnSpPr>
          <p:nvPr/>
        </p:nvCxnSpPr>
        <p:spPr>
          <a:xfrm>
            <a:off x="4856159" y="3831363"/>
            <a:ext cx="572479" cy="699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48" name="ZoneTexte 47">
            <a:extLst>
              <a:ext uri="{FF2B5EF4-FFF2-40B4-BE49-F238E27FC236}">
                <a16:creationId xmlns:a16="http://schemas.microsoft.com/office/drawing/2014/main" id="{42605418-D9EE-0B7B-4C15-C365BE8F271C}"/>
              </a:ext>
            </a:extLst>
          </p:cNvPr>
          <p:cNvSpPr txBox="1"/>
          <p:nvPr/>
        </p:nvSpPr>
        <p:spPr>
          <a:xfrm>
            <a:off x="6831043" y="3681649"/>
            <a:ext cx="1485093" cy="830997"/>
          </a:xfrm>
          <a:prstGeom prst="rect">
            <a:avLst/>
          </a:prstGeom>
          <a:solidFill>
            <a:schemeClr val="bg1"/>
          </a:solidFill>
          <a:ln>
            <a:solidFill>
              <a:srgbClr val="0E3449"/>
            </a:solidFill>
          </a:ln>
        </p:spPr>
        <p:txBody>
          <a:bodyPr wrap="square" rtlCol="0">
            <a:spAutoFit/>
          </a:bodyPr>
          <a:lstStyle/>
          <a:p>
            <a:r>
              <a:rPr lang="fr-FR" sz="1200" dirty="0"/>
              <a:t>Modèle finale</a:t>
            </a:r>
          </a:p>
          <a:p>
            <a:r>
              <a:rPr lang="fr-FR" sz="1200" dirty="0"/>
              <a:t>Prédictions Recommandations</a:t>
            </a:r>
          </a:p>
          <a:p>
            <a:r>
              <a:rPr lang="fr-FR" sz="1200" dirty="0"/>
              <a:t> </a:t>
            </a:r>
          </a:p>
        </p:txBody>
      </p:sp>
      <p:cxnSp>
        <p:nvCxnSpPr>
          <p:cNvPr id="64" name="Connecteur droit avec flèche 63">
            <a:extLst>
              <a:ext uri="{FF2B5EF4-FFF2-40B4-BE49-F238E27FC236}">
                <a16:creationId xmlns:a16="http://schemas.microsoft.com/office/drawing/2014/main" id="{66D0FA1C-E89B-9F15-A12D-6E90EA889BF8}"/>
              </a:ext>
            </a:extLst>
          </p:cNvPr>
          <p:cNvCxnSpPr>
            <a:cxnSpLocks/>
            <a:stCxn id="11" idx="3"/>
            <a:endCxn id="48" idx="1"/>
          </p:cNvCxnSpPr>
          <p:nvPr/>
        </p:nvCxnSpPr>
        <p:spPr>
          <a:xfrm>
            <a:off x="6567986" y="4089796"/>
            <a:ext cx="263057" cy="735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a:extLst>
            <a:ext uri="{FF2B5EF4-FFF2-40B4-BE49-F238E27FC236}">
              <a16:creationId xmlns:a16="http://schemas.microsoft.com/office/drawing/2014/main" id="{675FD762-D47D-D2D6-C443-FC4536FBDDCE}"/>
            </a:ext>
          </a:extLst>
        </p:cNvPr>
        <p:cNvGrpSpPr/>
        <p:nvPr/>
      </p:nvGrpSpPr>
      <p:grpSpPr>
        <a:xfrm>
          <a:off x="0" y="0"/>
          <a:ext cx="0" cy="0"/>
          <a:chOff x="0" y="0"/>
          <a:chExt cx="0" cy="0"/>
        </a:xfrm>
      </p:grpSpPr>
      <p:sp>
        <p:nvSpPr>
          <p:cNvPr id="68" name="Google Shape;68;p15">
            <a:extLst>
              <a:ext uri="{FF2B5EF4-FFF2-40B4-BE49-F238E27FC236}">
                <a16:creationId xmlns:a16="http://schemas.microsoft.com/office/drawing/2014/main" id="{E835F64A-50F3-6DF7-2DFA-661036747D3B}"/>
              </a:ext>
            </a:extLst>
          </p:cNvPr>
          <p:cNvSpPr txBox="1">
            <a:spLocks noGrp="1"/>
          </p:cNvSpPr>
          <p:nvPr>
            <p:ph type="ctrTitle" idx="4294967295"/>
          </p:nvPr>
        </p:nvSpPr>
        <p:spPr>
          <a:xfrm>
            <a:off x="1192664" y="403309"/>
            <a:ext cx="5315100" cy="533100"/>
          </a:xfrm>
          <a:prstGeom prst="rect">
            <a:avLst/>
          </a:prstGeom>
          <a:noFill/>
          <a:ln>
            <a:noFill/>
          </a:ln>
        </p:spPr>
        <p:txBody>
          <a:bodyPr spcFirstLastPara="1" wrap="square" lIns="91425" tIns="91425" rIns="91425" bIns="91425" anchor="t" anchorCtr="0">
            <a:noAutofit/>
          </a:bodyPr>
          <a:lstStyle/>
          <a:p>
            <a:r>
              <a:rPr lang="fr-FR" sz="2500" dirty="0">
                <a:solidFill>
                  <a:srgbClr val="0E3449"/>
                </a:solidFill>
                <a:latin typeface="Inter SemiBold"/>
                <a:ea typeface="Inter SemiBold"/>
                <a:sym typeface="Inter SemiBold"/>
              </a:rPr>
              <a:t>EDA </a:t>
            </a:r>
            <a:endParaRPr sz="2500" dirty="0">
              <a:solidFill>
                <a:srgbClr val="0E3449"/>
              </a:solidFill>
              <a:latin typeface="Inter SemiBold"/>
              <a:ea typeface="Inter SemiBold"/>
              <a:sym typeface="Inter SemiBold"/>
            </a:endParaRPr>
          </a:p>
        </p:txBody>
      </p:sp>
      <p:pic>
        <p:nvPicPr>
          <p:cNvPr id="75" name="Google Shape;75;p15">
            <a:extLst>
              <a:ext uri="{FF2B5EF4-FFF2-40B4-BE49-F238E27FC236}">
                <a16:creationId xmlns:a16="http://schemas.microsoft.com/office/drawing/2014/main" id="{A0298437-2CB8-3DD8-DCC5-927ED2322DF8}"/>
              </a:ext>
            </a:extLst>
          </p:cNvPr>
          <p:cNvPicPr preferRelativeResize="0"/>
          <p:nvPr/>
        </p:nvPicPr>
        <p:blipFill>
          <a:blip r:embed="rId3">
            <a:alphaModFix/>
          </a:blip>
          <a:stretch>
            <a:fillRect/>
          </a:stretch>
        </p:blipFill>
        <p:spPr>
          <a:xfrm>
            <a:off x="463375" y="482852"/>
            <a:ext cx="576900" cy="385904"/>
          </a:xfrm>
          <a:prstGeom prst="rect">
            <a:avLst/>
          </a:prstGeom>
          <a:noFill/>
          <a:ln>
            <a:noFill/>
          </a:ln>
        </p:spPr>
      </p:pic>
      <p:sp>
        <p:nvSpPr>
          <p:cNvPr id="76" name="Google Shape;76;p15">
            <a:extLst>
              <a:ext uri="{FF2B5EF4-FFF2-40B4-BE49-F238E27FC236}">
                <a16:creationId xmlns:a16="http://schemas.microsoft.com/office/drawing/2014/main" id="{9538E514-3D7F-11E4-1F40-01F13844DFF3}"/>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 name="Google Shape;69;p3">
            <a:extLst>
              <a:ext uri="{FF2B5EF4-FFF2-40B4-BE49-F238E27FC236}">
                <a16:creationId xmlns:a16="http://schemas.microsoft.com/office/drawing/2014/main" id="{A77A90AA-D795-4773-BA45-8BB7F2A5B479}"/>
              </a:ext>
            </a:extLst>
          </p:cNvPr>
          <p:cNvSpPr/>
          <p:nvPr/>
        </p:nvSpPr>
        <p:spPr>
          <a:xfrm>
            <a:off x="311700" y="4155927"/>
            <a:ext cx="8686385" cy="668445"/>
          </a:xfrm>
          <a:prstGeom prst="rect">
            <a:avLst/>
          </a:prstGeom>
          <a:solidFill>
            <a:schemeClr val="accent3">
              <a:lumMod val="20000"/>
              <a:lumOff val="8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 name="Google Shape;73;p3">
            <a:extLst>
              <a:ext uri="{FF2B5EF4-FFF2-40B4-BE49-F238E27FC236}">
                <a16:creationId xmlns:a16="http://schemas.microsoft.com/office/drawing/2014/main" id="{9971918E-DD9E-D76D-E967-2C7582772921}"/>
              </a:ext>
            </a:extLst>
          </p:cNvPr>
          <p:cNvSpPr txBox="1">
            <a:spLocks/>
          </p:cNvSpPr>
          <p:nvPr/>
        </p:nvSpPr>
        <p:spPr>
          <a:xfrm>
            <a:off x="456258" y="4115277"/>
            <a:ext cx="8458333" cy="69643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a:lnSpc>
                <a:spcPct val="100000"/>
              </a:lnSpc>
              <a:spcBef>
                <a:spcPts val="300"/>
              </a:spcBef>
              <a:buSzPct val="100000"/>
            </a:pPr>
            <a:r>
              <a:rPr lang="fr-FR" sz="1000" b="1" dirty="0" err="1"/>
              <a:t>Dataset</a:t>
            </a:r>
            <a:r>
              <a:rPr lang="fr-FR" sz="1000" b="1" dirty="0"/>
              <a:t> fortement déséquilibré :</a:t>
            </a:r>
            <a:r>
              <a:rPr lang="fr-FR" sz="1000" dirty="0"/>
              <a:t> seulement </a:t>
            </a:r>
            <a:r>
              <a:rPr lang="fr-FR" sz="1000" b="1" dirty="0"/>
              <a:t>3,2 %</a:t>
            </a:r>
            <a:r>
              <a:rPr lang="fr-FR" sz="1000" dirty="0"/>
              <a:t> des visiteurs s'inscrivent à la newsletter. </a:t>
            </a:r>
          </a:p>
          <a:p>
            <a:pPr>
              <a:lnSpc>
                <a:spcPct val="100000"/>
              </a:lnSpc>
              <a:spcBef>
                <a:spcPts val="300"/>
              </a:spcBef>
              <a:buSzPct val="100000"/>
            </a:pPr>
            <a:r>
              <a:rPr lang="fr-FR" sz="1000" b="1" dirty="0"/>
              <a:t>Effet engagement très marqué :</a:t>
            </a:r>
            <a:r>
              <a:rPr lang="fr-FR" sz="1000" dirty="0"/>
              <a:t> le taux de conversion augmente fortement avec le </a:t>
            </a:r>
            <a:r>
              <a:rPr lang="fr-FR" sz="1000" b="1" dirty="0"/>
              <a:t>nombre de pages visitées</a:t>
            </a:r>
            <a:r>
              <a:rPr lang="fr-FR" sz="1000" dirty="0"/>
              <a:t>. </a:t>
            </a:r>
          </a:p>
          <a:p>
            <a:pPr>
              <a:lnSpc>
                <a:spcPct val="100000"/>
              </a:lnSpc>
              <a:spcBef>
                <a:spcPts val="300"/>
              </a:spcBef>
              <a:buSzPct val="100000"/>
            </a:pPr>
            <a:r>
              <a:rPr lang="fr-FR" sz="1000" dirty="0"/>
              <a:t>Les visiteurs consultant plus de </a:t>
            </a:r>
            <a:r>
              <a:rPr lang="fr-FR" sz="1000" b="1" dirty="0"/>
              <a:t>10 à 15 pages</a:t>
            </a:r>
            <a:r>
              <a:rPr lang="fr-FR" sz="1000" dirty="0"/>
              <a:t> présentent une probabilité de conversion nettement supérieure.</a:t>
            </a:r>
          </a:p>
        </p:txBody>
      </p:sp>
      <p:pic>
        <p:nvPicPr>
          <p:cNvPr id="2" name="Image 1">
            <a:extLst>
              <a:ext uri="{FF2B5EF4-FFF2-40B4-BE49-F238E27FC236}">
                <a16:creationId xmlns:a16="http://schemas.microsoft.com/office/drawing/2014/main" id="{BBD48195-9B2C-93AB-A8EA-9DBB427B27F2}"/>
              </a:ext>
            </a:extLst>
          </p:cNvPr>
          <p:cNvPicPr>
            <a:picLocks noChangeAspect="1"/>
          </p:cNvPicPr>
          <p:nvPr/>
        </p:nvPicPr>
        <p:blipFill>
          <a:blip r:embed="rId4"/>
          <a:stretch>
            <a:fillRect/>
          </a:stretch>
        </p:blipFill>
        <p:spPr>
          <a:xfrm>
            <a:off x="175565" y="1401894"/>
            <a:ext cx="4090428" cy="2525213"/>
          </a:xfrm>
          <a:prstGeom prst="rect">
            <a:avLst/>
          </a:prstGeom>
        </p:spPr>
      </p:pic>
      <p:pic>
        <p:nvPicPr>
          <p:cNvPr id="6" name="Image 5">
            <a:extLst>
              <a:ext uri="{FF2B5EF4-FFF2-40B4-BE49-F238E27FC236}">
                <a16:creationId xmlns:a16="http://schemas.microsoft.com/office/drawing/2014/main" id="{D9E75AA1-F7D2-6731-AD86-574ADD4AEA4A}"/>
              </a:ext>
            </a:extLst>
          </p:cNvPr>
          <p:cNvPicPr>
            <a:picLocks noChangeAspect="1"/>
          </p:cNvPicPr>
          <p:nvPr/>
        </p:nvPicPr>
        <p:blipFill>
          <a:blip r:embed="rId5"/>
          <a:stretch>
            <a:fillRect/>
          </a:stretch>
        </p:blipFill>
        <p:spPr>
          <a:xfrm>
            <a:off x="4366763" y="1401894"/>
            <a:ext cx="4282002" cy="2645730"/>
          </a:xfrm>
          <a:prstGeom prst="rect">
            <a:avLst/>
          </a:prstGeom>
        </p:spPr>
      </p:pic>
    </p:spTree>
    <p:extLst>
      <p:ext uri="{BB962C8B-B14F-4D97-AF65-F5344CB8AC3E}">
        <p14:creationId xmlns:p14="http://schemas.microsoft.com/office/powerpoint/2010/main" val="7002560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7">
          <a:extLst>
            <a:ext uri="{FF2B5EF4-FFF2-40B4-BE49-F238E27FC236}">
              <a16:creationId xmlns:a16="http://schemas.microsoft.com/office/drawing/2014/main" id="{5A80FB89-E2EB-CB3E-DCAA-321E5F28B00E}"/>
            </a:ext>
          </a:extLst>
        </p:cNvPr>
        <p:cNvGrpSpPr/>
        <p:nvPr/>
      </p:nvGrpSpPr>
      <p:grpSpPr>
        <a:xfrm>
          <a:off x="0" y="0"/>
          <a:ext cx="0" cy="0"/>
          <a:chOff x="0" y="0"/>
          <a:chExt cx="0" cy="0"/>
        </a:xfrm>
      </p:grpSpPr>
      <p:sp>
        <p:nvSpPr>
          <p:cNvPr id="68" name="Google Shape;68;p15">
            <a:extLst>
              <a:ext uri="{FF2B5EF4-FFF2-40B4-BE49-F238E27FC236}">
                <a16:creationId xmlns:a16="http://schemas.microsoft.com/office/drawing/2014/main" id="{F0826EF4-BD5C-8FF3-F987-33CC9D7D7599}"/>
              </a:ext>
            </a:extLst>
          </p:cNvPr>
          <p:cNvSpPr txBox="1">
            <a:spLocks noGrp="1"/>
          </p:cNvSpPr>
          <p:nvPr>
            <p:ph type="ctrTitle" idx="4294967295"/>
          </p:nvPr>
        </p:nvSpPr>
        <p:spPr>
          <a:xfrm>
            <a:off x="1192664" y="403309"/>
            <a:ext cx="5315100" cy="533100"/>
          </a:xfrm>
          <a:prstGeom prst="rect">
            <a:avLst/>
          </a:prstGeom>
          <a:noFill/>
          <a:ln>
            <a:noFill/>
          </a:ln>
        </p:spPr>
        <p:txBody>
          <a:bodyPr spcFirstLastPara="1" wrap="square" lIns="91425" tIns="91425" rIns="91425" bIns="91425" anchor="t" anchorCtr="0">
            <a:noAutofit/>
          </a:bodyPr>
          <a:lstStyle/>
          <a:p>
            <a:r>
              <a:rPr lang="fr-FR" sz="2500" dirty="0">
                <a:solidFill>
                  <a:srgbClr val="0E3449"/>
                </a:solidFill>
                <a:latin typeface="Inter SemiBold"/>
                <a:ea typeface="Inter SemiBold"/>
                <a:sym typeface="Inter SemiBold"/>
              </a:rPr>
              <a:t>EDA </a:t>
            </a:r>
            <a:endParaRPr sz="2500" dirty="0">
              <a:solidFill>
                <a:srgbClr val="0E3449"/>
              </a:solidFill>
              <a:latin typeface="Inter SemiBold"/>
              <a:ea typeface="Inter SemiBold"/>
              <a:sym typeface="Inter SemiBold"/>
            </a:endParaRPr>
          </a:p>
        </p:txBody>
      </p:sp>
      <p:pic>
        <p:nvPicPr>
          <p:cNvPr id="75" name="Google Shape;75;p15">
            <a:extLst>
              <a:ext uri="{FF2B5EF4-FFF2-40B4-BE49-F238E27FC236}">
                <a16:creationId xmlns:a16="http://schemas.microsoft.com/office/drawing/2014/main" id="{01906032-60DB-3828-8236-73CC3746FAD4}"/>
              </a:ext>
            </a:extLst>
          </p:cNvPr>
          <p:cNvPicPr preferRelativeResize="0"/>
          <p:nvPr/>
        </p:nvPicPr>
        <p:blipFill>
          <a:blip r:embed="rId3">
            <a:alphaModFix/>
          </a:blip>
          <a:stretch>
            <a:fillRect/>
          </a:stretch>
        </p:blipFill>
        <p:spPr>
          <a:xfrm>
            <a:off x="463375" y="482852"/>
            <a:ext cx="576900" cy="385904"/>
          </a:xfrm>
          <a:prstGeom prst="rect">
            <a:avLst/>
          </a:prstGeom>
          <a:noFill/>
          <a:ln>
            <a:noFill/>
          </a:ln>
        </p:spPr>
      </p:pic>
      <p:sp>
        <p:nvSpPr>
          <p:cNvPr id="76" name="Google Shape;76;p15">
            <a:extLst>
              <a:ext uri="{FF2B5EF4-FFF2-40B4-BE49-F238E27FC236}">
                <a16:creationId xmlns:a16="http://schemas.microsoft.com/office/drawing/2014/main" id="{3AC44A95-D8B8-D0FE-2E8D-6BBF4F096E71}"/>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 name="Google Shape;69;p3">
            <a:extLst>
              <a:ext uri="{FF2B5EF4-FFF2-40B4-BE49-F238E27FC236}">
                <a16:creationId xmlns:a16="http://schemas.microsoft.com/office/drawing/2014/main" id="{918276D2-E6DF-25B7-DBF8-F68825179B1F}"/>
              </a:ext>
            </a:extLst>
          </p:cNvPr>
          <p:cNvSpPr/>
          <p:nvPr/>
        </p:nvSpPr>
        <p:spPr>
          <a:xfrm>
            <a:off x="311700" y="4112989"/>
            <a:ext cx="8686385" cy="711383"/>
          </a:xfrm>
          <a:prstGeom prst="rect">
            <a:avLst/>
          </a:prstGeom>
          <a:solidFill>
            <a:schemeClr val="accent3">
              <a:lumMod val="20000"/>
              <a:lumOff val="8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 name="Google Shape;73;p3">
            <a:extLst>
              <a:ext uri="{FF2B5EF4-FFF2-40B4-BE49-F238E27FC236}">
                <a16:creationId xmlns:a16="http://schemas.microsoft.com/office/drawing/2014/main" id="{E68FD57D-A21D-4A1D-E5BC-A166AFD04983}"/>
              </a:ext>
            </a:extLst>
          </p:cNvPr>
          <p:cNvSpPr txBox="1">
            <a:spLocks/>
          </p:cNvSpPr>
          <p:nvPr/>
        </p:nvSpPr>
        <p:spPr>
          <a:xfrm>
            <a:off x="463375" y="4103072"/>
            <a:ext cx="8458333" cy="86761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a:lnSpc>
                <a:spcPct val="100000"/>
              </a:lnSpc>
              <a:spcBef>
                <a:spcPts val="300"/>
              </a:spcBef>
              <a:buSzPct val="100000"/>
            </a:pPr>
            <a:r>
              <a:rPr lang="fr-FR" sz="1000" b="1" dirty="0"/>
              <a:t>Le taux de conversion diminue avec l’âge</a:t>
            </a:r>
            <a:r>
              <a:rPr lang="fr-FR" sz="1000" dirty="0"/>
              <a:t> : les moins de 25 ans convertissent près de 9 fois plus que les 55 ans et plus. </a:t>
            </a:r>
          </a:p>
          <a:p>
            <a:pPr>
              <a:lnSpc>
                <a:spcPct val="100000"/>
              </a:lnSpc>
              <a:spcBef>
                <a:spcPts val="300"/>
              </a:spcBef>
              <a:buSzPct val="100000"/>
            </a:pPr>
            <a:r>
              <a:rPr lang="fr-FR" sz="1000" b="1" dirty="0"/>
              <a:t>Des écarts significatifs existent entre les pays</a:t>
            </a:r>
            <a:r>
              <a:rPr lang="fr-FR" sz="1000" dirty="0"/>
              <a:t>, avec des taux de conversion plus élevés en Allemagne et au Royaume-Uni. </a:t>
            </a:r>
          </a:p>
          <a:p>
            <a:pPr>
              <a:lnSpc>
                <a:spcPct val="100000"/>
              </a:lnSpc>
              <a:spcBef>
                <a:spcPts val="300"/>
              </a:spcBef>
              <a:buSzPct val="100000"/>
            </a:pPr>
            <a:r>
              <a:rPr lang="fr-FR" sz="1000" dirty="0"/>
              <a:t>La Chine présente un taux de conversion particulièrement faible par rapport aux autres marchés.</a:t>
            </a:r>
          </a:p>
        </p:txBody>
      </p:sp>
      <p:pic>
        <p:nvPicPr>
          <p:cNvPr id="8" name="Image 7">
            <a:extLst>
              <a:ext uri="{FF2B5EF4-FFF2-40B4-BE49-F238E27FC236}">
                <a16:creationId xmlns:a16="http://schemas.microsoft.com/office/drawing/2014/main" id="{A944F5CB-4447-398C-7B3B-25367AE8455D}"/>
              </a:ext>
            </a:extLst>
          </p:cNvPr>
          <p:cNvPicPr>
            <a:picLocks noChangeAspect="1"/>
          </p:cNvPicPr>
          <p:nvPr/>
        </p:nvPicPr>
        <p:blipFill>
          <a:blip r:embed="rId4"/>
          <a:stretch>
            <a:fillRect/>
          </a:stretch>
        </p:blipFill>
        <p:spPr>
          <a:xfrm>
            <a:off x="311700" y="1397308"/>
            <a:ext cx="4145889" cy="2559451"/>
          </a:xfrm>
          <a:prstGeom prst="rect">
            <a:avLst/>
          </a:prstGeom>
        </p:spPr>
      </p:pic>
      <p:pic>
        <p:nvPicPr>
          <p:cNvPr id="10" name="Image 9">
            <a:extLst>
              <a:ext uri="{FF2B5EF4-FFF2-40B4-BE49-F238E27FC236}">
                <a16:creationId xmlns:a16="http://schemas.microsoft.com/office/drawing/2014/main" id="{A221C6C3-DF10-92AE-991C-593C919735F5}"/>
              </a:ext>
            </a:extLst>
          </p:cNvPr>
          <p:cNvPicPr>
            <a:picLocks noChangeAspect="1"/>
          </p:cNvPicPr>
          <p:nvPr/>
        </p:nvPicPr>
        <p:blipFill>
          <a:blip r:embed="rId5"/>
          <a:stretch>
            <a:fillRect/>
          </a:stretch>
        </p:blipFill>
        <p:spPr>
          <a:xfrm>
            <a:off x="4457589" y="1407225"/>
            <a:ext cx="4145888" cy="2559451"/>
          </a:xfrm>
          <a:prstGeom prst="rect">
            <a:avLst/>
          </a:prstGeom>
        </p:spPr>
      </p:pic>
    </p:spTree>
    <p:extLst>
      <p:ext uri="{BB962C8B-B14F-4D97-AF65-F5344CB8AC3E}">
        <p14:creationId xmlns:p14="http://schemas.microsoft.com/office/powerpoint/2010/main" val="1949808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7">
          <a:extLst>
            <a:ext uri="{FF2B5EF4-FFF2-40B4-BE49-F238E27FC236}">
              <a16:creationId xmlns:a16="http://schemas.microsoft.com/office/drawing/2014/main" id="{26A6BDB0-C2F6-6468-6F53-B99138720804}"/>
            </a:ext>
          </a:extLst>
        </p:cNvPr>
        <p:cNvGrpSpPr/>
        <p:nvPr/>
      </p:nvGrpSpPr>
      <p:grpSpPr>
        <a:xfrm>
          <a:off x="0" y="0"/>
          <a:ext cx="0" cy="0"/>
          <a:chOff x="0" y="0"/>
          <a:chExt cx="0" cy="0"/>
        </a:xfrm>
      </p:grpSpPr>
      <p:sp>
        <p:nvSpPr>
          <p:cNvPr id="68" name="Google Shape;68;p15">
            <a:extLst>
              <a:ext uri="{FF2B5EF4-FFF2-40B4-BE49-F238E27FC236}">
                <a16:creationId xmlns:a16="http://schemas.microsoft.com/office/drawing/2014/main" id="{3E1FE9AF-F8BF-6D41-7238-1CD8C87E5960}"/>
              </a:ext>
            </a:extLst>
          </p:cNvPr>
          <p:cNvSpPr txBox="1">
            <a:spLocks noGrp="1"/>
          </p:cNvSpPr>
          <p:nvPr>
            <p:ph type="ctrTitle" idx="4294967295"/>
          </p:nvPr>
        </p:nvSpPr>
        <p:spPr>
          <a:xfrm>
            <a:off x="1192664" y="403309"/>
            <a:ext cx="7602086" cy="533100"/>
          </a:xfrm>
          <a:prstGeom prst="rect">
            <a:avLst/>
          </a:prstGeom>
          <a:noFill/>
          <a:ln>
            <a:noFill/>
          </a:ln>
        </p:spPr>
        <p:txBody>
          <a:bodyPr spcFirstLastPara="1" wrap="square" lIns="91425" tIns="91425" rIns="91425" bIns="91425" anchor="t" anchorCtr="0">
            <a:noAutofit/>
          </a:bodyPr>
          <a:lstStyle/>
          <a:p>
            <a:r>
              <a:rPr lang="fr-FR" sz="2500" dirty="0">
                <a:solidFill>
                  <a:srgbClr val="0E3449"/>
                </a:solidFill>
                <a:latin typeface="Inter SemiBold"/>
                <a:ea typeface="Inter SemiBold"/>
                <a:sym typeface="Inter SemiBold"/>
              </a:rPr>
              <a:t>Résultats</a:t>
            </a:r>
            <a:br>
              <a:rPr lang="fr-FR" sz="2500" dirty="0">
                <a:solidFill>
                  <a:srgbClr val="0E3449"/>
                </a:solidFill>
                <a:latin typeface="Inter SemiBold"/>
                <a:ea typeface="Inter SemiBold"/>
                <a:sym typeface="Inter SemiBold"/>
              </a:rPr>
            </a:br>
            <a:r>
              <a:rPr lang="fr-FR" sz="1600" dirty="0">
                <a:solidFill>
                  <a:srgbClr val="0E3449"/>
                </a:solidFill>
                <a:latin typeface="Inter SemiBold"/>
                <a:ea typeface="Inter SemiBold"/>
                <a:sym typeface="Inter SemiBold"/>
              </a:rPr>
              <a:t>Random Forest vs XGBoost</a:t>
            </a:r>
            <a:endParaRPr sz="2500" dirty="0">
              <a:solidFill>
                <a:srgbClr val="0E3449"/>
              </a:solidFill>
              <a:latin typeface="Inter SemiBold"/>
              <a:ea typeface="Inter SemiBold"/>
              <a:sym typeface="Inter SemiBold"/>
            </a:endParaRPr>
          </a:p>
        </p:txBody>
      </p:sp>
      <p:pic>
        <p:nvPicPr>
          <p:cNvPr id="75" name="Google Shape;75;p15">
            <a:extLst>
              <a:ext uri="{FF2B5EF4-FFF2-40B4-BE49-F238E27FC236}">
                <a16:creationId xmlns:a16="http://schemas.microsoft.com/office/drawing/2014/main" id="{DE848E16-CEF6-6B6A-B09B-C7266415DF55}"/>
              </a:ext>
            </a:extLst>
          </p:cNvPr>
          <p:cNvPicPr preferRelativeResize="0"/>
          <p:nvPr/>
        </p:nvPicPr>
        <p:blipFill>
          <a:blip r:embed="rId3">
            <a:alphaModFix/>
          </a:blip>
          <a:stretch>
            <a:fillRect/>
          </a:stretch>
        </p:blipFill>
        <p:spPr>
          <a:xfrm>
            <a:off x="463375" y="482852"/>
            <a:ext cx="576900" cy="385904"/>
          </a:xfrm>
          <a:prstGeom prst="rect">
            <a:avLst/>
          </a:prstGeom>
          <a:noFill/>
          <a:ln>
            <a:noFill/>
          </a:ln>
        </p:spPr>
      </p:pic>
      <p:sp>
        <p:nvSpPr>
          <p:cNvPr id="76" name="Google Shape;76;p15">
            <a:extLst>
              <a:ext uri="{FF2B5EF4-FFF2-40B4-BE49-F238E27FC236}">
                <a16:creationId xmlns:a16="http://schemas.microsoft.com/office/drawing/2014/main" id="{1D08589E-C285-3938-9205-119139A24000}"/>
              </a:ext>
            </a:extLst>
          </p:cNvPr>
          <p:cNvSpPr/>
          <p:nvPr/>
        </p:nvSpPr>
        <p:spPr>
          <a:xfrm>
            <a:off x="10225" y="4892025"/>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aphicFrame>
        <p:nvGraphicFramePr>
          <p:cNvPr id="3" name="Tableau 2">
            <a:extLst>
              <a:ext uri="{FF2B5EF4-FFF2-40B4-BE49-F238E27FC236}">
                <a16:creationId xmlns:a16="http://schemas.microsoft.com/office/drawing/2014/main" id="{8413E2CF-464F-F5E1-341F-3D8E5281BBA6}"/>
              </a:ext>
            </a:extLst>
          </p:cNvPr>
          <p:cNvGraphicFramePr>
            <a:graphicFrameLocks noGrp="1"/>
          </p:cNvGraphicFramePr>
          <p:nvPr>
            <p:extLst>
              <p:ext uri="{D42A27DB-BD31-4B8C-83A1-F6EECF244321}">
                <p14:modId xmlns:p14="http://schemas.microsoft.com/office/powerpoint/2010/main" val="236327289"/>
              </p:ext>
            </p:extLst>
          </p:nvPr>
        </p:nvGraphicFramePr>
        <p:xfrm>
          <a:off x="751824" y="1760220"/>
          <a:ext cx="7371096" cy="1775460"/>
        </p:xfrm>
        <a:graphic>
          <a:graphicData uri="http://schemas.openxmlformats.org/drawingml/2006/table">
            <a:tbl>
              <a:tblPr firstRow="1" bandRow="1">
                <a:tableStyleId>{7DF18680-E054-41AD-8BC1-D1AEF772440D}</a:tableStyleId>
              </a:tblPr>
              <a:tblGrid>
                <a:gridCol w="1727643">
                  <a:extLst>
                    <a:ext uri="{9D8B030D-6E8A-4147-A177-3AD203B41FA5}">
                      <a16:colId xmlns:a16="http://schemas.microsoft.com/office/drawing/2014/main" val="467522551"/>
                    </a:ext>
                  </a:extLst>
                </a:gridCol>
                <a:gridCol w="1363459">
                  <a:extLst>
                    <a:ext uri="{9D8B030D-6E8A-4147-A177-3AD203B41FA5}">
                      <a16:colId xmlns:a16="http://schemas.microsoft.com/office/drawing/2014/main" val="4215255045"/>
                    </a:ext>
                  </a:extLst>
                </a:gridCol>
                <a:gridCol w="1544048">
                  <a:extLst>
                    <a:ext uri="{9D8B030D-6E8A-4147-A177-3AD203B41FA5}">
                      <a16:colId xmlns:a16="http://schemas.microsoft.com/office/drawing/2014/main" val="378134031"/>
                    </a:ext>
                  </a:extLst>
                </a:gridCol>
                <a:gridCol w="1426665">
                  <a:extLst>
                    <a:ext uri="{9D8B030D-6E8A-4147-A177-3AD203B41FA5}">
                      <a16:colId xmlns:a16="http://schemas.microsoft.com/office/drawing/2014/main" val="478246532"/>
                    </a:ext>
                  </a:extLst>
                </a:gridCol>
                <a:gridCol w="1309281">
                  <a:extLst>
                    <a:ext uri="{9D8B030D-6E8A-4147-A177-3AD203B41FA5}">
                      <a16:colId xmlns:a16="http://schemas.microsoft.com/office/drawing/2014/main" val="1955977169"/>
                    </a:ext>
                  </a:extLst>
                </a:gridCol>
              </a:tblGrid>
              <a:tr h="586549">
                <a:tc>
                  <a:txBody>
                    <a:bodyPr/>
                    <a:lstStyle/>
                    <a:p>
                      <a:r>
                        <a:rPr lang="fr-FR" sz="1200" dirty="0"/>
                        <a:t>Modèle</a:t>
                      </a:r>
                    </a:p>
                  </a:txBody>
                  <a:tcPr/>
                </a:tc>
                <a:tc>
                  <a:txBody>
                    <a:bodyPr/>
                    <a:lstStyle/>
                    <a:p>
                      <a:r>
                        <a:rPr lang="fr-FR" sz="1200" b="1" u="none" strike="noStrike" cap="none" dirty="0">
                          <a:solidFill>
                            <a:schemeClr val="lt1"/>
                          </a:solidFill>
                          <a:sym typeface="Arial"/>
                        </a:rPr>
                        <a:t>F1 score</a:t>
                      </a:r>
                      <a:endParaRPr lang="fr-FR" sz="1200" b="1" i="0" u="none" strike="noStrike" cap="none" dirty="0">
                        <a:solidFill>
                          <a:schemeClr val="lt1"/>
                        </a:solidFill>
                        <a:latin typeface="+mn-lt"/>
                        <a:ea typeface="+mn-ea"/>
                        <a:cs typeface="+mn-cs"/>
                        <a:sym typeface="Arial"/>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200" b="1" u="none" strike="noStrike" cap="none" dirty="0" err="1">
                          <a:solidFill>
                            <a:schemeClr val="lt1"/>
                          </a:solidFill>
                          <a:sym typeface="Arial"/>
                        </a:rPr>
                        <a:t>precision</a:t>
                      </a:r>
                      <a:endParaRPr lang="fr-FR" sz="1200" b="1" i="0" u="none" strike="noStrike" cap="none" dirty="0">
                        <a:solidFill>
                          <a:schemeClr val="lt1"/>
                        </a:solidFill>
                        <a:latin typeface="+mn-lt"/>
                        <a:ea typeface="+mn-ea"/>
                        <a:cs typeface="+mn-cs"/>
                        <a:sym typeface="Arial"/>
                      </a:endParaRPr>
                    </a:p>
                  </a:txBody>
                  <a:tcPr/>
                </a:tc>
                <a:tc>
                  <a:txBody>
                    <a:bodyPr/>
                    <a:lstStyle/>
                    <a:p>
                      <a:r>
                        <a:rPr lang="fr-FR" sz="1200" b="1" u="none" strike="noStrike" cap="none" dirty="0" err="1">
                          <a:solidFill>
                            <a:schemeClr val="lt1"/>
                          </a:solidFill>
                          <a:sym typeface="Arial"/>
                        </a:rPr>
                        <a:t>recall</a:t>
                      </a:r>
                      <a:endParaRPr lang="fr-FR" sz="1200" b="1" i="0" u="none" strike="noStrike" cap="none" dirty="0">
                        <a:solidFill>
                          <a:schemeClr val="lt1"/>
                        </a:solidFill>
                        <a:latin typeface="+mn-lt"/>
                        <a:ea typeface="+mn-ea"/>
                        <a:cs typeface="+mn-cs"/>
                        <a:sym typeface="Arial"/>
                      </a:endParaRPr>
                    </a:p>
                  </a:txBody>
                  <a:tcPr/>
                </a:tc>
                <a:tc>
                  <a:txBody>
                    <a:bodyPr/>
                    <a:lstStyle/>
                    <a:p>
                      <a:r>
                        <a:rPr lang="fr-FR" sz="1200" b="1" u="none" strike="noStrike" cap="none" dirty="0" err="1">
                          <a:solidFill>
                            <a:schemeClr val="lt1"/>
                          </a:solidFill>
                          <a:sym typeface="Arial"/>
                        </a:rPr>
                        <a:t>roc_auc</a:t>
                      </a:r>
                      <a:endParaRPr lang="fr-FR" sz="1200" b="1" i="0" u="none" strike="noStrike" cap="none" dirty="0">
                        <a:solidFill>
                          <a:schemeClr val="lt1"/>
                        </a:solidFill>
                        <a:latin typeface="+mn-lt"/>
                        <a:ea typeface="+mn-ea"/>
                        <a:cs typeface="+mn-cs"/>
                        <a:sym typeface="Arial"/>
                      </a:endParaRPr>
                    </a:p>
                  </a:txBody>
                  <a:tcPr/>
                </a:tc>
                <a:extLst>
                  <a:ext uri="{0D108BD9-81ED-4DB2-BD59-A6C34878D82A}">
                    <a16:rowId xmlns:a16="http://schemas.microsoft.com/office/drawing/2014/main" val="264934860"/>
                  </a:ext>
                </a:extLst>
              </a:tr>
              <a:tr h="688114">
                <a:tc>
                  <a:txBody>
                    <a:bodyPr/>
                    <a:lstStyle/>
                    <a:p>
                      <a:pPr>
                        <a:buNone/>
                      </a:pPr>
                      <a:r>
                        <a:rPr lang="fr-FR" dirty="0"/>
                        <a:t>Random Forest</a:t>
                      </a:r>
                    </a:p>
                  </a:txBody>
                  <a:tcPr anchor="ctr"/>
                </a:tc>
                <a:tc>
                  <a:txBody>
                    <a:bodyPr/>
                    <a:lstStyle/>
                    <a:p>
                      <a:pPr>
                        <a:buNone/>
                      </a:pPr>
                      <a:r>
                        <a:rPr lang="fr-FR" dirty="0"/>
                        <a:t>0.765</a:t>
                      </a:r>
                    </a:p>
                  </a:txBody>
                  <a:tcPr anchor="ctr"/>
                </a:tc>
                <a:tc>
                  <a:txBody>
                    <a:bodyPr/>
                    <a:lstStyle/>
                    <a:p>
                      <a:pPr>
                        <a:buNone/>
                      </a:pPr>
                      <a:r>
                        <a:rPr lang="fr-FR" dirty="0"/>
                        <a:t>0.857</a:t>
                      </a:r>
                    </a:p>
                  </a:txBody>
                  <a:tcPr anchor="ctr"/>
                </a:tc>
                <a:tc>
                  <a:txBody>
                    <a:bodyPr/>
                    <a:lstStyle/>
                    <a:p>
                      <a:pPr>
                        <a:buNone/>
                      </a:pPr>
                      <a:r>
                        <a:rPr lang="fr-FR" dirty="0"/>
                        <a:t>0.69</a:t>
                      </a:r>
                    </a:p>
                  </a:txBody>
                  <a:tcPr anchor="ctr"/>
                </a:tc>
                <a:tc>
                  <a:txBody>
                    <a:bodyPr/>
                    <a:lstStyle/>
                    <a:p>
                      <a:pPr>
                        <a:buNone/>
                      </a:pPr>
                      <a:r>
                        <a:rPr lang="fr-FR" dirty="0"/>
                        <a:t>0.985</a:t>
                      </a:r>
                    </a:p>
                  </a:txBody>
                  <a:tcPr anchor="ctr"/>
                </a:tc>
                <a:extLst>
                  <a:ext uri="{0D108BD9-81ED-4DB2-BD59-A6C34878D82A}">
                    <a16:rowId xmlns:a16="http://schemas.microsoft.com/office/drawing/2014/main" val="2338539637"/>
                  </a:ext>
                </a:extLst>
              </a:tr>
              <a:tr h="500797">
                <a:tc>
                  <a:txBody>
                    <a:bodyPr/>
                    <a:lstStyle/>
                    <a:p>
                      <a:pPr>
                        <a:buNone/>
                      </a:pPr>
                      <a:r>
                        <a:rPr lang="fr-FR" b="1" dirty="0"/>
                        <a:t>XGBoost</a:t>
                      </a:r>
                      <a:endParaRPr lang="fr-FR" dirty="0"/>
                    </a:p>
                  </a:txBody>
                  <a:tcPr anchor="ctr"/>
                </a:tc>
                <a:tc>
                  <a:txBody>
                    <a:bodyPr/>
                    <a:lstStyle/>
                    <a:p>
                      <a:pPr>
                        <a:buNone/>
                      </a:pPr>
                      <a:r>
                        <a:rPr lang="fr-FR" b="1" dirty="0"/>
                        <a:t>0.769</a:t>
                      </a:r>
                      <a:endParaRPr lang="fr-FR" dirty="0"/>
                    </a:p>
                  </a:txBody>
                  <a:tcPr anchor="ctr"/>
                </a:tc>
                <a:tc>
                  <a:txBody>
                    <a:bodyPr/>
                    <a:lstStyle/>
                    <a:p>
                      <a:pPr>
                        <a:buNone/>
                      </a:pPr>
                      <a:r>
                        <a:rPr lang="fr-FR" dirty="0"/>
                        <a:t>0.857</a:t>
                      </a:r>
                    </a:p>
                  </a:txBody>
                  <a:tcPr anchor="ctr"/>
                </a:tc>
                <a:tc>
                  <a:txBody>
                    <a:bodyPr/>
                    <a:lstStyle/>
                    <a:p>
                      <a:pPr>
                        <a:buNone/>
                      </a:pPr>
                      <a:r>
                        <a:rPr lang="fr-FR" b="1" dirty="0"/>
                        <a:t>0.697</a:t>
                      </a:r>
                      <a:endParaRPr lang="fr-FR" dirty="0"/>
                    </a:p>
                  </a:txBody>
                  <a:tcPr anchor="ctr"/>
                </a:tc>
                <a:tc>
                  <a:txBody>
                    <a:bodyPr/>
                    <a:lstStyle/>
                    <a:p>
                      <a:pPr>
                        <a:buNone/>
                      </a:pPr>
                      <a:r>
                        <a:rPr lang="fr-FR" dirty="0"/>
                        <a:t>0.986</a:t>
                      </a:r>
                    </a:p>
                  </a:txBody>
                  <a:tcPr anchor="ctr"/>
                </a:tc>
                <a:extLst>
                  <a:ext uri="{0D108BD9-81ED-4DB2-BD59-A6C34878D82A}">
                    <a16:rowId xmlns:a16="http://schemas.microsoft.com/office/drawing/2014/main" val="2234715631"/>
                  </a:ext>
                </a:extLst>
              </a:tr>
            </a:tbl>
          </a:graphicData>
        </a:graphic>
      </p:graphicFrame>
      <p:sp>
        <p:nvSpPr>
          <p:cNvPr id="2" name="ZoneTexte 1">
            <a:extLst>
              <a:ext uri="{FF2B5EF4-FFF2-40B4-BE49-F238E27FC236}">
                <a16:creationId xmlns:a16="http://schemas.microsoft.com/office/drawing/2014/main" id="{4DBD5AEE-7741-4993-2023-5FE930F882F8}"/>
              </a:ext>
            </a:extLst>
          </p:cNvPr>
          <p:cNvSpPr txBox="1"/>
          <p:nvPr/>
        </p:nvSpPr>
        <p:spPr>
          <a:xfrm>
            <a:off x="751824" y="3878580"/>
            <a:ext cx="7371096" cy="523220"/>
          </a:xfrm>
          <a:prstGeom prst="rect">
            <a:avLst/>
          </a:prstGeom>
          <a:noFill/>
        </p:spPr>
        <p:txBody>
          <a:bodyPr wrap="square" rtlCol="0">
            <a:spAutoFit/>
          </a:bodyPr>
          <a:lstStyle/>
          <a:p>
            <a:r>
              <a:rPr lang="fr-FR" dirty="0"/>
              <a:t>XGBoost obtient les meilleures performances sur l'ensemble des métriques et est retenu comme modèle final.</a:t>
            </a:r>
          </a:p>
        </p:txBody>
      </p:sp>
    </p:spTree>
    <p:extLst>
      <p:ext uri="{BB962C8B-B14F-4D97-AF65-F5344CB8AC3E}">
        <p14:creationId xmlns:p14="http://schemas.microsoft.com/office/powerpoint/2010/main" val="21666434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7">
          <a:extLst>
            <a:ext uri="{FF2B5EF4-FFF2-40B4-BE49-F238E27FC236}">
              <a16:creationId xmlns:a16="http://schemas.microsoft.com/office/drawing/2014/main" id="{D7B34E3D-BB84-B973-04EA-0CA2CF696B10}"/>
            </a:ext>
          </a:extLst>
        </p:cNvPr>
        <p:cNvGrpSpPr/>
        <p:nvPr/>
      </p:nvGrpSpPr>
      <p:grpSpPr>
        <a:xfrm>
          <a:off x="0" y="0"/>
          <a:ext cx="0" cy="0"/>
          <a:chOff x="0" y="0"/>
          <a:chExt cx="0" cy="0"/>
        </a:xfrm>
      </p:grpSpPr>
      <p:sp>
        <p:nvSpPr>
          <p:cNvPr id="68" name="Google Shape;68;p15">
            <a:extLst>
              <a:ext uri="{FF2B5EF4-FFF2-40B4-BE49-F238E27FC236}">
                <a16:creationId xmlns:a16="http://schemas.microsoft.com/office/drawing/2014/main" id="{74D7DD58-AF04-7763-38DB-B636276598FD}"/>
              </a:ext>
            </a:extLst>
          </p:cNvPr>
          <p:cNvSpPr txBox="1">
            <a:spLocks noGrp="1"/>
          </p:cNvSpPr>
          <p:nvPr>
            <p:ph type="ctrTitle" idx="4294967295"/>
          </p:nvPr>
        </p:nvSpPr>
        <p:spPr>
          <a:xfrm>
            <a:off x="1192664" y="403309"/>
            <a:ext cx="7602086" cy="533100"/>
          </a:xfrm>
          <a:prstGeom prst="rect">
            <a:avLst/>
          </a:prstGeom>
          <a:noFill/>
          <a:ln>
            <a:noFill/>
          </a:ln>
        </p:spPr>
        <p:txBody>
          <a:bodyPr spcFirstLastPara="1" wrap="square" lIns="91425" tIns="91425" rIns="91425" bIns="91425" anchor="t" anchorCtr="0">
            <a:noAutofit/>
          </a:bodyPr>
          <a:lstStyle/>
          <a:p>
            <a:r>
              <a:rPr lang="fr-FR" sz="2500" dirty="0">
                <a:solidFill>
                  <a:srgbClr val="0E3449"/>
                </a:solidFill>
                <a:latin typeface="Inter SemiBold"/>
                <a:ea typeface="Inter SemiBold"/>
                <a:sym typeface="Inter SemiBold"/>
              </a:rPr>
              <a:t>Résultats</a:t>
            </a:r>
            <a:br>
              <a:rPr lang="fr-FR" sz="2500" dirty="0">
                <a:solidFill>
                  <a:srgbClr val="0E3449"/>
                </a:solidFill>
                <a:latin typeface="Inter SemiBold"/>
                <a:ea typeface="Inter SemiBold"/>
                <a:sym typeface="Inter SemiBold"/>
              </a:rPr>
            </a:br>
            <a:r>
              <a:rPr lang="fr-FR" sz="1600" dirty="0">
                <a:solidFill>
                  <a:srgbClr val="0E3449"/>
                </a:solidFill>
                <a:latin typeface="Inter SemiBold"/>
                <a:ea typeface="Inter SemiBold"/>
                <a:sym typeface="Inter SemiBold"/>
              </a:rPr>
              <a:t>Analyse </a:t>
            </a:r>
            <a:r>
              <a:rPr lang="fr-FR" sz="1600" dirty="0" err="1">
                <a:solidFill>
                  <a:srgbClr val="0E3449"/>
                </a:solidFill>
                <a:latin typeface="Inter SemiBold"/>
                <a:ea typeface="Inter SemiBold"/>
                <a:sym typeface="Inter SemiBold"/>
              </a:rPr>
              <a:t>XGBoost</a:t>
            </a:r>
            <a:endParaRPr sz="2500" dirty="0">
              <a:solidFill>
                <a:srgbClr val="0E3449"/>
              </a:solidFill>
              <a:latin typeface="Inter SemiBold"/>
              <a:ea typeface="Inter SemiBold"/>
              <a:sym typeface="Inter SemiBold"/>
            </a:endParaRPr>
          </a:p>
        </p:txBody>
      </p:sp>
      <p:pic>
        <p:nvPicPr>
          <p:cNvPr id="75" name="Google Shape;75;p15">
            <a:extLst>
              <a:ext uri="{FF2B5EF4-FFF2-40B4-BE49-F238E27FC236}">
                <a16:creationId xmlns:a16="http://schemas.microsoft.com/office/drawing/2014/main" id="{432E28D8-4A90-A10A-C782-F8196A70744E}"/>
              </a:ext>
            </a:extLst>
          </p:cNvPr>
          <p:cNvPicPr preferRelativeResize="0"/>
          <p:nvPr/>
        </p:nvPicPr>
        <p:blipFill>
          <a:blip r:embed="rId3">
            <a:alphaModFix/>
          </a:blip>
          <a:stretch>
            <a:fillRect/>
          </a:stretch>
        </p:blipFill>
        <p:spPr>
          <a:xfrm>
            <a:off x="463375" y="482852"/>
            <a:ext cx="576900" cy="385904"/>
          </a:xfrm>
          <a:prstGeom prst="rect">
            <a:avLst/>
          </a:prstGeom>
          <a:noFill/>
          <a:ln>
            <a:noFill/>
          </a:ln>
        </p:spPr>
      </p:pic>
      <p:sp>
        <p:nvSpPr>
          <p:cNvPr id="76" name="Google Shape;76;p15">
            <a:extLst>
              <a:ext uri="{FF2B5EF4-FFF2-40B4-BE49-F238E27FC236}">
                <a16:creationId xmlns:a16="http://schemas.microsoft.com/office/drawing/2014/main" id="{BF56F9F2-5DE6-2860-4ED8-C87B8AA5940E}"/>
              </a:ext>
            </a:extLst>
          </p:cNvPr>
          <p:cNvSpPr/>
          <p:nvPr/>
        </p:nvSpPr>
        <p:spPr>
          <a:xfrm>
            <a:off x="8402" y="4892100"/>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 name="Google Shape;69;p3">
            <a:extLst>
              <a:ext uri="{FF2B5EF4-FFF2-40B4-BE49-F238E27FC236}">
                <a16:creationId xmlns:a16="http://schemas.microsoft.com/office/drawing/2014/main" id="{6A3A4161-11DF-8C4A-C6F6-6B119BFC3CDB}"/>
              </a:ext>
            </a:extLst>
          </p:cNvPr>
          <p:cNvSpPr/>
          <p:nvPr/>
        </p:nvSpPr>
        <p:spPr>
          <a:xfrm>
            <a:off x="311700" y="3915607"/>
            <a:ext cx="8686385" cy="908765"/>
          </a:xfrm>
          <a:prstGeom prst="rect">
            <a:avLst/>
          </a:prstGeom>
          <a:solidFill>
            <a:schemeClr val="accent3">
              <a:lumMod val="20000"/>
              <a:lumOff val="8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Arial"/>
              <a:ea typeface="Arial"/>
              <a:cs typeface="Arial"/>
              <a:sym typeface="Arial"/>
            </a:endParaRPr>
          </a:p>
        </p:txBody>
      </p:sp>
      <p:sp>
        <p:nvSpPr>
          <p:cNvPr id="15" name="Google Shape;73;p3">
            <a:extLst>
              <a:ext uri="{FF2B5EF4-FFF2-40B4-BE49-F238E27FC236}">
                <a16:creationId xmlns:a16="http://schemas.microsoft.com/office/drawing/2014/main" id="{75B56715-10EA-2633-2410-5AABFFEAFA59}"/>
              </a:ext>
            </a:extLst>
          </p:cNvPr>
          <p:cNvSpPr txBox="1">
            <a:spLocks/>
          </p:cNvSpPr>
          <p:nvPr/>
        </p:nvSpPr>
        <p:spPr>
          <a:xfrm>
            <a:off x="373967" y="3946794"/>
            <a:ext cx="8458333" cy="81403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a:buFont typeface="Arial" panose="020B0604020202020204" pitchFamily="34" charset="0"/>
              <a:buChar char="•"/>
            </a:pPr>
            <a:r>
              <a:rPr lang="fr-FR" sz="1050" b="1" dirty="0"/>
              <a:t>Matrice de confusion </a:t>
            </a:r>
            <a:r>
              <a:rPr lang="fr-FR" sz="1050" dirty="0"/>
              <a:t>: une bonne détection des conversions tout en limitant les faux positifs.</a:t>
            </a:r>
          </a:p>
          <a:p>
            <a:pPr>
              <a:buFont typeface="Arial" panose="020B0604020202020204" pitchFamily="34" charset="0"/>
              <a:buChar char="•"/>
            </a:pPr>
            <a:r>
              <a:rPr lang="fr-FR" sz="1050" b="1" dirty="0" err="1"/>
              <a:t>total_pages_visited</a:t>
            </a:r>
            <a:r>
              <a:rPr lang="fr-FR" sz="1050" b="1" dirty="0"/>
              <a:t> </a:t>
            </a:r>
            <a:r>
              <a:rPr lang="fr-FR" sz="1050" dirty="0"/>
              <a:t>: variable la plus influente du modèle.</a:t>
            </a:r>
          </a:p>
          <a:p>
            <a:pPr>
              <a:buFont typeface="Arial" panose="020B0604020202020204" pitchFamily="34" charset="0"/>
              <a:buChar char="•"/>
            </a:pPr>
            <a:r>
              <a:rPr lang="fr-FR" sz="1050" b="1" dirty="0" err="1"/>
              <a:t>country_China</a:t>
            </a:r>
            <a:r>
              <a:rPr lang="fr-FR" sz="1050" b="1" dirty="0"/>
              <a:t> et </a:t>
            </a:r>
            <a:r>
              <a:rPr lang="fr-FR" sz="1050" b="1" dirty="0" err="1"/>
              <a:t>new_user</a:t>
            </a:r>
            <a:r>
              <a:rPr lang="fr-FR" sz="1050" b="1" dirty="0"/>
              <a:t> :</a:t>
            </a:r>
            <a:r>
              <a:rPr lang="fr-FR" sz="1050" dirty="0"/>
              <a:t> principaux facteurs secondaires ; les sources d'acquisition ont un impact limité.</a:t>
            </a:r>
          </a:p>
        </p:txBody>
      </p:sp>
      <p:pic>
        <p:nvPicPr>
          <p:cNvPr id="2" name="Image 1">
            <a:extLst>
              <a:ext uri="{FF2B5EF4-FFF2-40B4-BE49-F238E27FC236}">
                <a16:creationId xmlns:a16="http://schemas.microsoft.com/office/drawing/2014/main" id="{B8C09A50-63E7-BB8A-75D0-7BC2333FF803}"/>
              </a:ext>
            </a:extLst>
          </p:cNvPr>
          <p:cNvPicPr>
            <a:picLocks noChangeAspect="1"/>
          </p:cNvPicPr>
          <p:nvPr/>
        </p:nvPicPr>
        <p:blipFill>
          <a:blip r:embed="rId4"/>
          <a:stretch>
            <a:fillRect/>
          </a:stretch>
        </p:blipFill>
        <p:spPr>
          <a:xfrm>
            <a:off x="751825" y="1283856"/>
            <a:ext cx="2972936" cy="2575788"/>
          </a:xfrm>
          <a:prstGeom prst="rect">
            <a:avLst/>
          </a:prstGeom>
        </p:spPr>
      </p:pic>
      <p:pic>
        <p:nvPicPr>
          <p:cNvPr id="4" name="Image 3">
            <a:extLst>
              <a:ext uri="{FF2B5EF4-FFF2-40B4-BE49-F238E27FC236}">
                <a16:creationId xmlns:a16="http://schemas.microsoft.com/office/drawing/2014/main" id="{CBC3C5F2-A740-E0A5-C31D-E732C55643B6}"/>
              </a:ext>
            </a:extLst>
          </p:cNvPr>
          <p:cNvPicPr>
            <a:picLocks noChangeAspect="1"/>
          </p:cNvPicPr>
          <p:nvPr/>
        </p:nvPicPr>
        <p:blipFill>
          <a:blip r:embed="rId5"/>
          <a:stretch>
            <a:fillRect/>
          </a:stretch>
        </p:blipFill>
        <p:spPr>
          <a:xfrm>
            <a:off x="4323443" y="1283856"/>
            <a:ext cx="4164102" cy="2486660"/>
          </a:xfrm>
          <a:prstGeom prst="rect">
            <a:avLst/>
          </a:prstGeom>
        </p:spPr>
      </p:pic>
    </p:spTree>
    <p:extLst>
      <p:ext uri="{BB962C8B-B14F-4D97-AF65-F5344CB8AC3E}">
        <p14:creationId xmlns:p14="http://schemas.microsoft.com/office/powerpoint/2010/main" val="611361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7">
          <a:extLst>
            <a:ext uri="{FF2B5EF4-FFF2-40B4-BE49-F238E27FC236}">
              <a16:creationId xmlns:a16="http://schemas.microsoft.com/office/drawing/2014/main" id="{50911C24-0B53-ED7F-3D87-A0501AC853D8}"/>
            </a:ext>
          </a:extLst>
        </p:cNvPr>
        <p:cNvGrpSpPr/>
        <p:nvPr/>
      </p:nvGrpSpPr>
      <p:grpSpPr>
        <a:xfrm>
          <a:off x="0" y="0"/>
          <a:ext cx="0" cy="0"/>
          <a:chOff x="0" y="0"/>
          <a:chExt cx="0" cy="0"/>
        </a:xfrm>
      </p:grpSpPr>
      <p:sp>
        <p:nvSpPr>
          <p:cNvPr id="68" name="Google Shape;68;p15">
            <a:extLst>
              <a:ext uri="{FF2B5EF4-FFF2-40B4-BE49-F238E27FC236}">
                <a16:creationId xmlns:a16="http://schemas.microsoft.com/office/drawing/2014/main" id="{C8207392-214D-075D-F411-1D619F7FAC23}"/>
              </a:ext>
            </a:extLst>
          </p:cNvPr>
          <p:cNvSpPr txBox="1">
            <a:spLocks noGrp="1"/>
          </p:cNvSpPr>
          <p:nvPr>
            <p:ph type="ctrTitle" idx="4294967295"/>
          </p:nvPr>
        </p:nvSpPr>
        <p:spPr>
          <a:xfrm>
            <a:off x="1192664" y="403309"/>
            <a:ext cx="7602086" cy="533100"/>
          </a:xfrm>
          <a:prstGeom prst="rect">
            <a:avLst/>
          </a:prstGeom>
          <a:noFill/>
          <a:ln>
            <a:noFill/>
          </a:ln>
        </p:spPr>
        <p:txBody>
          <a:bodyPr spcFirstLastPara="1" wrap="square" lIns="91425" tIns="91425" rIns="91425" bIns="91425" anchor="t" anchorCtr="0">
            <a:noAutofit/>
          </a:bodyPr>
          <a:lstStyle/>
          <a:p>
            <a:r>
              <a:rPr lang="fr-FR" sz="2500" dirty="0">
                <a:solidFill>
                  <a:srgbClr val="0E3449"/>
                </a:solidFill>
                <a:latin typeface="Inter SemiBold"/>
                <a:ea typeface="Inter SemiBold"/>
                <a:sym typeface="Inter SemiBold"/>
              </a:rPr>
              <a:t>Recommandations</a:t>
            </a:r>
            <a:br>
              <a:rPr lang="fr-FR" sz="2500" dirty="0">
                <a:solidFill>
                  <a:srgbClr val="0E3449"/>
                </a:solidFill>
                <a:latin typeface="Inter SemiBold"/>
                <a:ea typeface="Inter SemiBold"/>
                <a:sym typeface="Inter SemiBold"/>
              </a:rPr>
            </a:br>
            <a:endParaRPr sz="2500" dirty="0">
              <a:solidFill>
                <a:srgbClr val="0E3449"/>
              </a:solidFill>
              <a:latin typeface="Inter SemiBold"/>
              <a:ea typeface="Inter SemiBold"/>
              <a:sym typeface="Inter SemiBold"/>
            </a:endParaRPr>
          </a:p>
        </p:txBody>
      </p:sp>
      <p:pic>
        <p:nvPicPr>
          <p:cNvPr id="75" name="Google Shape;75;p15">
            <a:extLst>
              <a:ext uri="{FF2B5EF4-FFF2-40B4-BE49-F238E27FC236}">
                <a16:creationId xmlns:a16="http://schemas.microsoft.com/office/drawing/2014/main" id="{4DDA38B4-A13B-8533-0E28-45FEFB2CC30D}"/>
              </a:ext>
            </a:extLst>
          </p:cNvPr>
          <p:cNvPicPr preferRelativeResize="0"/>
          <p:nvPr/>
        </p:nvPicPr>
        <p:blipFill>
          <a:blip r:embed="rId3">
            <a:alphaModFix/>
          </a:blip>
          <a:stretch>
            <a:fillRect/>
          </a:stretch>
        </p:blipFill>
        <p:spPr>
          <a:xfrm>
            <a:off x="463375" y="482852"/>
            <a:ext cx="576900" cy="385904"/>
          </a:xfrm>
          <a:prstGeom prst="rect">
            <a:avLst/>
          </a:prstGeom>
          <a:noFill/>
          <a:ln>
            <a:noFill/>
          </a:ln>
        </p:spPr>
      </p:pic>
      <p:sp>
        <p:nvSpPr>
          <p:cNvPr id="76" name="Google Shape;76;p15">
            <a:extLst>
              <a:ext uri="{FF2B5EF4-FFF2-40B4-BE49-F238E27FC236}">
                <a16:creationId xmlns:a16="http://schemas.microsoft.com/office/drawing/2014/main" id="{BC5BC6C4-3FE2-A834-9926-246433186983}"/>
              </a:ext>
            </a:extLst>
          </p:cNvPr>
          <p:cNvSpPr/>
          <p:nvPr/>
        </p:nvSpPr>
        <p:spPr>
          <a:xfrm>
            <a:off x="8402" y="4892100"/>
            <a:ext cx="9144000" cy="251400"/>
          </a:xfrm>
          <a:prstGeom prst="rect">
            <a:avLst/>
          </a:prstGeom>
          <a:solidFill>
            <a:srgbClr val="C3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73;p3">
            <a:extLst>
              <a:ext uri="{FF2B5EF4-FFF2-40B4-BE49-F238E27FC236}">
                <a16:creationId xmlns:a16="http://schemas.microsoft.com/office/drawing/2014/main" id="{AC1F6293-60CB-2A2E-B783-073A97324976}"/>
              </a:ext>
            </a:extLst>
          </p:cNvPr>
          <p:cNvSpPr txBox="1">
            <a:spLocks/>
          </p:cNvSpPr>
          <p:nvPr/>
        </p:nvSpPr>
        <p:spPr>
          <a:xfrm>
            <a:off x="342833" y="1676401"/>
            <a:ext cx="8458333" cy="306379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a:buFont typeface="Arial" panose="020B0604020202020204" pitchFamily="34" charset="0"/>
              <a:buChar char="•"/>
            </a:pPr>
            <a:r>
              <a:rPr lang="fr-FR" sz="1400" b="1" dirty="0"/>
              <a:t>Business</a:t>
            </a:r>
            <a:endParaRPr lang="fr-FR" sz="1400" dirty="0"/>
          </a:p>
          <a:p>
            <a:pPr lvl="1">
              <a:buFont typeface="Arial" panose="020B0604020202020204" pitchFamily="34" charset="0"/>
              <a:buChar char="•"/>
            </a:pPr>
            <a:r>
              <a:rPr lang="fr-FR" sz="1000" dirty="0"/>
              <a:t>Augmenter l’engagement utilisateur en favorisant la consultation de plusieurs pages. </a:t>
            </a:r>
          </a:p>
          <a:p>
            <a:pPr lvl="1">
              <a:buFont typeface="Arial" panose="020B0604020202020204" pitchFamily="34" charset="0"/>
              <a:buChar char="•"/>
            </a:pPr>
            <a:r>
              <a:rPr lang="fr-FR" sz="1000" dirty="0"/>
              <a:t>Adapter les actions marketing selon les pays. </a:t>
            </a:r>
          </a:p>
          <a:p>
            <a:pPr lvl="1">
              <a:buFont typeface="Arial" panose="020B0604020202020204" pitchFamily="34" charset="0"/>
              <a:buChar char="•"/>
            </a:pPr>
            <a:r>
              <a:rPr lang="fr-FR" sz="1000" dirty="0"/>
              <a:t>Personnaliser l’expérience des nouveaux utilisateurs. </a:t>
            </a:r>
          </a:p>
          <a:p>
            <a:pPr lvl="1">
              <a:buFont typeface="Arial" panose="020B0604020202020204" pitchFamily="34" charset="0"/>
              <a:buChar char="•"/>
            </a:pPr>
            <a:endParaRPr lang="fr-FR" sz="1000" dirty="0"/>
          </a:p>
          <a:p>
            <a:pPr>
              <a:buFont typeface="Arial" panose="020B0604020202020204" pitchFamily="34" charset="0"/>
              <a:buChar char="•"/>
            </a:pPr>
            <a:r>
              <a:rPr lang="fr-FR" sz="1400" b="1" dirty="0"/>
              <a:t>Technique</a:t>
            </a:r>
            <a:endParaRPr lang="fr-FR" sz="1400" dirty="0"/>
          </a:p>
          <a:p>
            <a:pPr lvl="1">
              <a:buFont typeface="Arial" panose="020B0604020202020204" pitchFamily="34" charset="0"/>
              <a:buChar char="•"/>
            </a:pPr>
            <a:r>
              <a:rPr lang="fr-FR" sz="1000" dirty="0"/>
              <a:t>Améliorer le modèle grâce au </a:t>
            </a:r>
            <a:r>
              <a:rPr lang="fr-FR" sz="1000" dirty="0" err="1"/>
              <a:t>feature</a:t>
            </a:r>
            <a:r>
              <a:rPr lang="fr-FR" sz="1000" dirty="0"/>
              <a:t> engineering.</a:t>
            </a:r>
          </a:p>
        </p:txBody>
      </p:sp>
    </p:spTree>
    <p:extLst>
      <p:ext uri="{BB962C8B-B14F-4D97-AF65-F5344CB8AC3E}">
        <p14:creationId xmlns:p14="http://schemas.microsoft.com/office/powerpoint/2010/main" val="17395536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DBD0"/>
        </a:solidFill>
        <a:effectLst/>
      </p:bgPr>
    </p:bg>
    <p:spTree>
      <p:nvGrpSpPr>
        <p:cNvPr id="1" name="Shape 186"/>
        <p:cNvGrpSpPr/>
        <p:nvPr/>
      </p:nvGrpSpPr>
      <p:grpSpPr>
        <a:xfrm>
          <a:off x="0" y="0"/>
          <a:ext cx="0" cy="0"/>
          <a:chOff x="0" y="0"/>
          <a:chExt cx="0" cy="0"/>
        </a:xfrm>
      </p:grpSpPr>
      <p:sp>
        <p:nvSpPr>
          <p:cNvPr id="187" name="Google Shape;187;p9"/>
          <p:cNvSpPr txBox="1">
            <a:spLocks noGrp="1"/>
          </p:cNvSpPr>
          <p:nvPr>
            <p:ph type="ctrTitle" idx="4294967295"/>
          </p:nvPr>
        </p:nvSpPr>
        <p:spPr>
          <a:xfrm>
            <a:off x="1089725" y="1970775"/>
            <a:ext cx="6393116" cy="698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fr" sz="3600" dirty="0">
                <a:solidFill>
                  <a:srgbClr val="0E3449"/>
                </a:solidFill>
                <a:latin typeface="Inter SemiBold"/>
                <a:ea typeface="Inter SemiBold"/>
                <a:cs typeface="Inter SemiBold"/>
                <a:sym typeface="Inter SemiBold"/>
              </a:rPr>
              <a:t>Merci pour votre attention</a:t>
            </a:r>
            <a:br>
              <a:rPr lang="fr" sz="3600" dirty="0">
                <a:solidFill>
                  <a:srgbClr val="0E3449"/>
                </a:solidFill>
                <a:latin typeface="Inter SemiBold"/>
                <a:ea typeface="Inter SemiBold"/>
                <a:cs typeface="Inter SemiBold"/>
                <a:sym typeface="Inter SemiBold"/>
              </a:rPr>
            </a:br>
            <a:r>
              <a:rPr lang="fr" sz="3600" dirty="0">
                <a:solidFill>
                  <a:srgbClr val="0E3449"/>
                </a:solidFill>
                <a:latin typeface="Inter SemiBold"/>
                <a:ea typeface="Inter SemiBold"/>
                <a:cs typeface="Inter SemiBold"/>
                <a:sym typeface="Inter SemiBold"/>
              </a:rPr>
              <a:t>Des</a:t>
            </a:r>
            <a:r>
              <a:rPr lang="fr" sz="3600" b="0" i="0" u="none" strike="noStrike" cap="none" dirty="0">
                <a:solidFill>
                  <a:srgbClr val="0E3449"/>
                </a:solidFill>
                <a:latin typeface="Inter SemiBold"/>
                <a:ea typeface="Inter SemiBold"/>
                <a:cs typeface="Inter SemiBold"/>
                <a:sym typeface="Inter SemiBold"/>
              </a:rPr>
              <a:t> questions ?</a:t>
            </a:r>
            <a:endParaRPr sz="3600" b="0" i="0" u="none" strike="noStrike" cap="none" dirty="0">
              <a:solidFill>
                <a:srgbClr val="0E3449"/>
              </a:solidFill>
              <a:latin typeface="Inter SemiBold"/>
              <a:ea typeface="Inter SemiBold"/>
              <a:cs typeface="Inter SemiBold"/>
              <a:sym typeface="Inter SemiBold"/>
            </a:endParaRPr>
          </a:p>
        </p:txBody>
      </p:sp>
      <p:pic>
        <p:nvPicPr>
          <p:cNvPr id="188" name="Google Shape;188;p9"/>
          <p:cNvPicPr preferRelativeResize="0"/>
          <p:nvPr/>
        </p:nvPicPr>
        <p:blipFill rotWithShape="1">
          <a:blip r:embed="rId3">
            <a:alphaModFix/>
          </a:blip>
          <a:srcRect/>
          <a:stretch/>
        </p:blipFill>
        <p:spPr>
          <a:xfrm>
            <a:off x="3918625" y="3006625"/>
            <a:ext cx="4599299" cy="2136876"/>
          </a:xfrm>
          <a:prstGeom prst="rect">
            <a:avLst/>
          </a:prstGeom>
          <a:noFill/>
          <a:ln>
            <a:noFill/>
          </a:ln>
        </p:spPr>
      </p:pic>
      <p:pic>
        <p:nvPicPr>
          <p:cNvPr id="189" name="Google Shape;189;p9"/>
          <p:cNvPicPr preferRelativeResize="0"/>
          <p:nvPr/>
        </p:nvPicPr>
        <p:blipFill rotWithShape="1">
          <a:blip r:embed="rId4">
            <a:alphaModFix/>
          </a:blip>
          <a:srcRect/>
          <a:stretch/>
        </p:blipFill>
        <p:spPr>
          <a:xfrm>
            <a:off x="1232375" y="915775"/>
            <a:ext cx="797425" cy="839825"/>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3730</TotalTime>
  <Words>1248</Words>
  <Application>Microsoft Macintosh PowerPoint</Application>
  <PresentationFormat>Affichage à l'écran (16:9)</PresentationFormat>
  <Paragraphs>101</Paragraphs>
  <Slides>8</Slides>
  <Notes>8</Notes>
  <HiddenSlides>0</HiddenSlides>
  <MMClips>0</MMClips>
  <ScaleCrop>false</ScaleCrop>
  <HeadingPairs>
    <vt:vector size="6" baseType="variant">
      <vt:variant>
        <vt:lpstr>Polices utilisées</vt:lpstr>
      </vt:variant>
      <vt:variant>
        <vt:i4>3</vt:i4>
      </vt:variant>
      <vt:variant>
        <vt:lpstr>Thème</vt:lpstr>
      </vt:variant>
      <vt:variant>
        <vt:i4>2</vt:i4>
      </vt:variant>
      <vt:variant>
        <vt:lpstr>Titres des diapositives</vt:lpstr>
      </vt:variant>
      <vt:variant>
        <vt:i4>8</vt:i4>
      </vt:variant>
    </vt:vector>
  </HeadingPairs>
  <TitlesOfParts>
    <vt:vector size="13" baseType="lpstr">
      <vt:lpstr>Inter SemiBold</vt:lpstr>
      <vt:lpstr>Inter Medium</vt:lpstr>
      <vt:lpstr>Arial</vt:lpstr>
      <vt:lpstr>Simple Light</vt:lpstr>
      <vt:lpstr>1_Simple Light</vt:lpstr>
      <vt:lpstr>Conversion rate challenge </vt:lpstr>
      <vt:lpstr>Contexte</vt:lpstr>
      <vt:lpstr>EDA </vt:lpstr>
      <vt:lpstr>EDA </vt:lpstr>
      <vt:lpstr>Résultats Random Forest vs XGBoost</vt:lpstr>
      <vt:lpstr>Résultats Analyse XGBoost</vt:lpstr>
      <vt:lpstr>Recommandations </vt:lpstr>
      <vt:lpstr>Merci pour votre attention Des questions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Jean-Yves Vuillequez</dc:creator>
  <cp:lastModifiedBy>Manjakasoa Ranjatoson</cp:lastModifiedBy>
  <cp:revision>247</cp:revision>
  <dcterms:modified xsi:type="dcterms:W3CDTF">2026-06-24T16:13:06Z</dcterms:modified>
</cp:coreProperties>
</file>